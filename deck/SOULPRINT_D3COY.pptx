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BD9C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EBD9C6"/>
                </a:solidFill>
                <a:latin typeface="+mn-lt"/>
              </a:rPr>
              <a:t>Risk score over the attack (0–100)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score</c:v>
                </c:pt>
              </c:strCache>
            </c:strRef>
          </c:tx>
          <c:spPr>
            <a:solidFill>
              <a:srgbClr val="E0262D">
                <a:alpha val="5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Prices</c:v>
                  </c:pt>
                  <c:pt idx="2">
                    <c:v>Reads PDF</c:v>
                  </c:pt>
                  <c:pt idx="3">
                    <c:v>HR files</c:v>
                  </c:pt>
                  <c:pt idx="4">
                    <c:v>Exfil POST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31</c:v>
                </c:pt>
                <c:pt idx="3">
                  <c:v>74</c:v>
                </c:pt>
                <c:pt idx="4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FA99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3A141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FA99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team name, college and members. Problem statement: Identity Drift Detection in Autonomous AI Agents. Our product: SOULPRINT.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idea: IAM checks validity, SOULPRINT checks behavior-vs-role. Four steps: learn, bind to role, detect, explain &amp; contain. The PS example (Procurement agent poisoned by supplier PDF) is shown end to end: the risk climbs as the behavior leaves the role, and the agent is contained before exfiltration completes. The unique step is 03: a Doppelgänger twin replays the task without the PDF and stays in role, which proves the PDF caused the hijack. Containment time in the demo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left to right. Gateway sits in front of tools (MCP proxy) so agents need no changes. Soul model = Role Contract (what it should do) + Fingerprint (what it normally does). Five detectors cover the PS core challenges: valid-credential attacks (role gap), prompt injection (taint), legit change vs drift (feedback loop + contract versioning), no history (cohort prior), chains (propagation), evasion (CUSUM + hard floors). Risk fused into one explainable score; at risk 40+ the Doppelgänger Test replays the task in a sandbox without untrusted input to prove cause before containment. The gateway also plants role-shaped D3COY bait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prototype exists (see console screenshot and demo site). Uses open standards; models are lightweight. Viability: open-core + per-agent SaaS. Risks and mitigations directly map to the core challenges in the PS. Numbers on stat tiles are prototype design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Shift the question from 'is it allowed' to 'is it still itself'. Benefits per stakeholder. Compliance mappings: DPDP Act 2023 (India), EU AI Act, ISO/IEC 42001, NIST AI RMF.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USPs. Headline USPs: the Doppelgänger Test (counterfactual twin replay proves the injection) and role-shaped D3COY baits. Roadmap along the road: MVP now, plug-ins, self-healing agents, then a federated possession-intel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j06872436.github.io/SOULPRINT/" TargetMode="External"/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737360" y="32461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[ADD TEAM NAME HERE]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6419088" y="3246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[ADD COLLEGE NAME HERE]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507492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IDENTITY DRIFT DETECTION IN AUTONOMOUS AI AGENTS</a:t>
            </a:r>
            <a:endParaRPr lang="en-US" sz="2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BFA99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Our answer: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SOULPRINT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BFA99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 ·  catches “possessed” AI agents with valid credentials, proven by a Doppelgänger twin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6995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MEMBER 1 NAME : CONTACT NO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759866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MEMBER 2 NAME : CONTACT NO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82021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MEMBER 3 NAME : CONTACT NO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88056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MEMBER 4 NAME : CONTACT NO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487168"/>
            <a:ext cx="1700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900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Credentials prove </a:t>
            </a:r>
            <a:pPr algn="ctr" indent="0" marL="0">
              <a:buNone/>
            </a:pPr>
            <a:r>
              <a:rPr lang="en-US" sz="29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WHO</a:t>
            </a:r>
            <a:pPr algn="ctr" indent="0" marL="0">
              <a:buNone/>
            </a:pPr>
            <a:r>
              <a:rPr lang="en-US" sz="2900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an agent is. </a:t>
            </a:r>
            <a:pPr algn="ctr" indent="0" marL="0">
              <a:buNone/>
            </a:pPr>
            <a:r>
              <a:rPr lang="en-US" sz="29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SOULPRINT</a:t>
            </a:r>
            <a:pPr algn="ctr" indent="0" marL="0">
              <a:buNone/>
            </a:pPr>
            <a:r>
              <a:rPr lang="en-US" sz="2900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proves it is still </a:t>
            </a:r>
            <a:pPr algn="ctr" indent="0" marL="0">
              <a:buNone/>
            </a:pPr>
            <a:r>
              <a:rPr lang="en-US" sz="29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</a:t>
            </a:r>
            <a:pPr algn="ctr" indent="0" marL="0">
              <a:buNone/>
            </a:pPr>
            <a:r>
              <a:rPr lang="en-US" sz="2900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it was built to be.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90672"/>
            <a:ext cx="1700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behavioral “soul fingerprint” for every AI agent: learned continuously, checked against its declared role, and enforced in real time.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61188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813048"/>
            <a:ext cx="777240" cy="77724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968496"/>
            <a:ext cx="466344" cy="4663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  LEARN THE SOUL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59028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baseline of tools, data classes, destinations, timing and who it delegates to.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 rot="5400000">
            <a:off x="4581144" y="4370832"/>
            <a:ext cx="310896" cy="310896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56048" y="361188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38928" y="3813048"/>
            <a:ext cx="777240" cy="77724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3968496"/>
            <a:ext cx="466344" cy="4663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53328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  BIND TO ROLE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157216" y="459028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role compiled into a Role Contract: what it should, and must never, do.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 rot="5400000">
            <a:off x="8988552" y="4370832"/>
            <a:ext cx="310896" cy="310896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363456" y="361188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46336" y="3813048"/>
            <a:ext cx="777240" cy="77724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968496"/>
            <a:ext cx="466344" cy="4663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460736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  UNMASK WITH TWIN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9564624" y="459028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sandboxed Doppelgänger replays the task minus the untrusted input. Only the live agent goes rogue? Possession proven.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 rot="5400000">
            <a:off x="13395960" y="4370832"/>
            <a:ext cx="310896" cy="310896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3770864" y="3611880"/>
            <a:ext cx="3977640" cy="1828800"/>
          </a:xfrm>
          <a:prstGeom prst="roundRect">
            <a:avLst>
              <a:gd name="adj" fmla="val 6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3953744" y="3813048"/>
            <a:ext cx="777240" cy="77724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09192" y="3968496"/>
            <a:ext cx="466344" cy="4663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868144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  EXPLAIN &amp; EXORCISE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13972032" y="459028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0–100 with plain reasons, then graduated containment instead of a kill switch.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623560"/>
            <a:ext cx="11430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LIVE CATCH  ·  THE POSSESSED PROCUREMENT AGENT</a:t>
            </a:r>
            <a:endParaRPr lang="en-US" sz="1900" dirty="0"/>
          </a:p>
        </p:txBody>
      </p:sp>
      <p:sp>
        <p:nvSpPr>
          <p:cNvPr id="28" name="Shape 22"/>
          <p:cNvSpPr/>
          <p:nvPr/>
        </p:nvSpPr>
        <p:spPr>
          <a:xfrm>
            <a:off x="795528" y="6355080"/>
            <a:ext cx="0" cy="2788920"/>
          </a:xfrm>
          <a:prstGeom prst="line">
            <a:avLst/>
          </a:prstGeom>
          <a:noFill/>
          <a:ln w="25400">
            <a:solidFill>
              <a:srgbClr val="6A1D2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58368" y="6272784"/>
            <a:ext cx="274320" cy="274320"/>
          </a:xfrm>
          <a:prstGeom prst="ellipse">
            <a:avLst/>
          </a:prstGeom>
          <a:solidFill>
            <a:srgbClr val="6FDC9B"/>
          </a:solidFill>
          <a:ln w="12700">
            <a:solidFill>
              <a:srgbClr val="6FDC9B"/>
            </a:solidFill>
            <a:prstDash val="solid"/>
          </a:ln>
          <a:effectLst>
            <a:outerShdw sx="100000" sy="100000" kx="0" ky="0" algn="bl" rotWithShape="0" blurRad="127000" dist="50800" dir="16200000">
              <a:srgbClr val="6FDC9B">
                <a:alpha val="70000"/>
              </a:srgbClr>
            </a:outerShdw>
          </a:effectLst>
        </p:spPr>
      </p:sp>
      <p:sp>
        <p:nvSpPr>
          <p:cNvPr id="30" name="Text 24"/>
          <p:cNvSpPr txBox="1"/>
          <p:nvPr/>
        </p:nvSpPr>
        <p:spPr>
          <a:xfrm>
            <a:off x="1143000" y="6199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4572000" y="6199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FD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8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1143000" y="65288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supplier prices, raises purchase requests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658368" y="7050024"/>
            <a:ext cx="274320" cy="274320"/>
          </a:xfrm>
          <a:prstGeom prst="ellipse">
            <a:avLst/>
          </a:prstGeom>
          <a:solidFill>
            <a:srgbClr val="FFC061"/>
          </a:solidFill>
          <a:ln w="12700">
            <a:solidFill>
              <a:srgbClr val="FFC061"/>
            </a:solidFill>
            <a:prstDash val="solid"/>
          </a:ln>
          <a:effectLst>
            <a:outerShdw sx="100000" sy="100000" kx="0" ky="0" algn="bl" rotWithShape="0" blurRad="127000" dist="50800" dir="16200000">
              <a:srgbClr val="FFC061">
                <a:alpha val="70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1143000" y="69768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poisoned PDF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4572000" y="6976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C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31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1143000" y="73060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 inside a supplier quote (tainted input)</a:t>
            </a:r>
            <a:endParaRPr lang="en-US" sz="1350" dirty="0"/>
          </a:p>
        </p:txBody>
      </p:sp>
      <p:sp>
        <p:nvSpPr>
          <p:cNvPr id="37" name="Shape 31"/>
          <p:cNvSpPr/>
          <p:nvPr/>
        </p:nvSpPr>
        <p:spPr>
          <a:xfrm>
            <a:off x="658368" y="7827264"/>
            <a:ext cx="274320" cy="27432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  <a:effectLst>
            <a:outerShdw sx="100000" sy="100000" kx="0" ky="0" algn="bl" rotWithShape="0" blurRad="127000" dist="50800" dir="16200000">
              <a:srgbClr val="FF8A3D">
                <a:alpha val="70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1143000" y="77541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HR salary files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4572000" y="77541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74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1143000" y="80832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Off-role data + touches a planted D3COY bait file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658368" y="8604504"/>
            <a:ext cx="274320" cy="274320"/>
          </a:xfrm>
          <a:prstGeom prst="ellips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  <a:effectLst>
            <a:outerShdw sx="100000" sy="100000" kx="0" ky="0" algn="bl" rotWithShape="0" blurRad="127000" dist="50800" dir="16200000">
              <a:srgbClr val="E0262D">
                <a:alpha val="70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1143000" y="85313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unknown server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4572000" y="85313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92</a:t>
            </a:r>
            <a:endParaRPr lang="en-US" sz="1500" dirty="0"/>
          </a:p>
        </p:txBody>
      </p:sp>
      <p:sp>
        <p:nvSpPr>
          <p:cNvPr id="44" name="Text 38"/>
          <p:cNvSpPr txBox="1"/>
          <p:nvPr/>
        </p:nvSpPr>
        <p:spPr>
          <a:xfrm>
            <a:off x="1143000" y="886053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without the PDF never does this: proven</a:t>
            </a:r>
            <a:endParaRPr lang="en-US" sz="1350" dirty="0"/>
          </a:p>
        </p:txBody>
      </p:sp>
      <p:sp>
        <p:nvSpPr>
          <p:cNvPr id="45" name="Shape 39"/>
          <p:cNvSpPr/>
          <p:nvPr/>
        </p:nvSpPr>
        <p:spPr>
          <a:xfrm>
            <a:off x="5897880" y="6126480"/>
            <a:ext cx="6035040" cy="3520440"/>
          </a:xfrm>
          <a:prstGeom prst="roundRect">
            <a:avLst>
              <a:gd name="adj" fmla="val 3117"/>
            </a:avLst>
          </a:prstGeom>
          <a:solidFill>
            <a:srgbClr val="0E0506">
              <a:alpha val="85000"/>
            </a:srgbClr>
          </a:solidFill>
          <a:ln w="15875">
            <a:solidFill>
              <a:srgbClr val="6A1D22"/>
            </a:solidFill>
            <a:prstDash val="solid"/>
          </a:ln>
        </p:spPr>
      </p:sp>
      <p:graphicFrame>
        <p:nvGraphicFramePr>
          <p:cNvPr id="46" name="Chart 0" descr=""/>
          <p:cNvGraphicFramePr/>
          <p:nvPr/>
        </p:nvGraphicFramePr>
        <p:xfrm>
          <a:off x="5989320" y="6172200"/>
          <a:ext cx="5852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7" name="Text 40"/>
          <p:cNvSpPr txBox="1"/>
          <p:nvPr/>
        </p:nvSpPr>
        <p:spPr>
          <a:xfrm>
            <a:off x="6035040" y="9070848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 ✓  IAM passed ✓  </a:t>
            </a:r>
            <a:pPr algn="ctr" indent="0" marL="0">
              <a:buNone/>
            </a:pPr>
            <a:r>
              <a:rPr lang="en-US" sz="1400" b="1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proved the PDF · quarantined in seconds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395728"/>
            <a:ext cx="17739360" cy="7406640"/>
          </a:xfrm>
          <a:prstGeom prst="roundRect">
            <a:avLst>
              <a:gd name="adj" fmla="val 1235"/>
            </a:avLst>
          </a:prstGeom>
          <a:solidFill>
            <a:srgbClr val="0A0405">
              <a:alpha val="68000"/>
            </a:srgbClr>
          </a:solidFill>
          <a:ln w="12700">
            <a:solidFill>
              <a:srgbClr val="0A0405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AGENT WORLD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9260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272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3072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3401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CrewAI · AutoGen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3959352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60520"/>
            <a:ext cx="512064" cy="5120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61872" y="410565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APIs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61872" y="4434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· SaaS APIs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02920" y="4992624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93792"/>
            <a:ext cx="512064" cy="5120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5138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content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61872" y="5468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· email · web pages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6025896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6227064"/>
            <a:ext cx="512064" cy="5120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1872" y="6172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→ agent calls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61872" y="65013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chains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 rot="5400000">
            <a:off x="3319272" y="4777740"/>
            <a:ext cx="329184" cy="329184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374904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TELEMETRY GATEWAY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3749040" y="2926080"/>
            <a:ext cx="2834640" cy="4069080"/>
          </a:xfrm>
          <a:prstGeom prst="roundRect">
            <a:avLst>
              <a:gd name="adj" fmla="val 3871"/>
            </a:avLst>
          </a:prstGeom>
          <a:solidFill>
            <a:srgbClr val="1C0A0C">
              <a:alpha val="88000"/>
            </a:srgbClr>
          </a:solidFill>
          <a:ln w="19050">
            <a:solidFill>
              <a:srgbClr val="E0262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754880" y="3108960"/>
            <a:ext cx="822960" cy="82296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27355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88620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proxy + OpenTelemetry sidecar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388620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D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 in agents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840480" y="4864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plants role-shaped D3COY baits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931920" y="53035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FA9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per action: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FA9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agent_id · role · tool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FA9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· data_class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FA9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dest_host · parent</a:t>
            </a:r>
            <a:endParaRPr lang="en-US" sz="12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BFA9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 tag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 rot="5400000">
            <a:off x="6656832" y="4777740"/>
            <a:ext cx="329184" cy="329184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7086600" y="2487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SOUL MODEL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7086600" y="2926080"/>
            <a:ext cx="3063240" cy="1965960"/>
          </a:xfrm>
          <a:prstGeom prst="roundRect">
            <a:avLst>
              <a:gd name="adj" fmla="val 5581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081528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77240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Contract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7242048" y="363931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role → allowed tools, data classes, egress &amp; rate. LLM-compiled, enforced as OPA policy.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7086600" y="5029200"/>
            <a:ext cx="3063240" cy="1965960"/>
          </a:xfrm>
          <a:prstGeom prst="roundRect">
            <a:avLst>
              <a:gd name="adj" fmla="val 5581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5184648"/>
            <a:ext cx="457200" cy="45720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772400" y="5212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Fingerprint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7242048" y="574243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baseline. Cold start: role-cohort prior, Bayesian update with each action.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 rot="5400000">
            <a:off x="10222992" y="4777740"/>
            <a:ext cx="329184" cy="329184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10652760" y="2487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DETECTORS</a:t>
            </a:r>
            <a:endParaRPr lang="en-US" sz="1500" dirty="0"/>
          </a:p>
        </p:txBody>
      </p:sp>
      <p:sp>
        <p:nvSpPr>
          <p:cNvPr id="41" name="Shape 32"/>
          <p:cNvSpPr/>
          <p:nvPr/>
        </p:nvSpPr>
        <p:spPr>
          <a:xfrm>
            <a:off x="10652760" y="2926080"/>
            <a:ext cx="3429000" cy="731520"/>
          </a:xfrm>
          <a:prstGeom prst="roundRect">
            <a:avLst>
              <a:gd name="adj" fmla="val 15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107442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D1</a:t>
            </a:r>
            <a:endParaRPr lang="en-US" sz="1700" dirty="0"/>
          </a:p>
        </p:txBody>
      </p:sp>
      <p:sp>
        <p:nvSpPr>
          <p:cNvPr id="43" name="Text 34"/>
          <p:cNvSpPr txBox="1"/>
          <p:nvPr/>
        </p:nvSpPr>
        <p:spPr>
          <a:xfrm>
            <a:off x="11228832" y="299008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Role-Alignment Gap</a:t>
            </a:r>
            <a:endParaRPr lang="en-US" sz="1450" dirty="0"/>
          </a:p>
        </p:txBody>
      </p:sp>
      <p:sp>
        <p:nvSpPr>
          <p:cNvPr id="44" name="Text 35"/>
          <p:cNvSpPr txBox="1"/>
          <p:nvPr/>
        </p:nvSpPr>
        <p:spPr>
          <a:xfrm>
            <a:off x="11228832" y="329184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distance + contract violations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10652760" y="3749040"/>
            <a:ext cx="3429000" cy="731520"/>
          </a:xfrm>
          <a:prstGeom prst="roundRect">
            <a:avLst>
              <a:gd name="adj" fmla="val 15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107442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D2</a:t>
            </a:r>
            <a:endParaRPr lang="en-US" sz="1700" dirty="0"/>
          </a:p>
        </p:txBody>
      </p:sp>
      <p:sp>
        <p:nvSpPr>
          <p:cNvPr id="47" name="Text 38"/>
          <p:cNvSpPr txBox="1"/>
          <p:nvPr/>
        </p:nvSpPr>
        <p:spPr>
          <a:xfrm>
            <a:off x="11228832" y="38130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Surprise</a:t>
            </a:r>
            <a:endParaRPr lang="en-US" sz="1450" dirty="0"/>
          </a:p>
        </p:txBody>
      </p:sp>
      <p:sp>
        <p:nvSpPr>
          <p:cNvPr id="48" name="Text 39"/>
          <p:cNvSpPr txBox="1"/>
          <p:nvPr/>
        </p:nvSpPr>
        <p:spPr>
          <a:xfrm>
            <a:off x="11228832" y="411480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next-action likelihood (Markov)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10652760" y="4572000"/>
            <a:ext cx="3429000" cy="731520"/>
          </a:xfrm>
          <a:prstGeom prst="roundRect">
            <a:avLst>
              <a:gd name="adj" fmla="val 15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1074420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D3</a:t>
            </a:r>
            <a:endParaRPr lang="en-US" sz="1700" dirty="0"/>
          </a:p>
        </p:txBody>
      </p:sp>
      <p:sp>
        <p:nvSpPr>
          <p:cNvPr id="51" name="Text 42"/>
          <p:cNvSpPr txBox="1"/>
          <p:nvPr/>
        </p:nvSpPr>
        <p:spPr>
          <a:xfrm>
            <a:off x="11228832" y="463600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Tracker</a:t>
            </a:r>
            <a:endParaRPr lang="en-US" sz="1450" dirty="0"/>
          </a:p>
        </p:txBody>
      </p:sp>
      <p:sp>
        <p:nvSpPr>
          <p:cNvPr id="52" name="Text 43"/>
          <p:cNvSpPr txBox="1"/>
          <p:nvPr/>
        </p:nvSpPr>
        <p:spPr>
          <a:xfrm>
            <a:off x="11228832" y="493776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input → privileged action</a:t>
            </a:r>
            <a:endParaRPr lang="en-US" sz="1150" dirty="0"/>
          </a:p>
        </p:txBody>
      </p:sp>
      <p:sp>
        <p:nvSpPr>
          <p:cNvPr id="53" name="Shape 44"/>
          <p:cNvSpPr/>
          <p:nvPr/>
        </p:nvSpPr>
        <p:spPr>
          <a:xfrm>
            <a:off x="10652760" y="5394960"/>
            <a:ext cx="3429000" cy="731520"/>
          </a:xfrm>
          <a:prstGeom prst="roundRect">
            <a:avLst>
              <a:gd name="adj" fmla="val 15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1074420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D4</a:t>
            </a:r>
            <a:endParaRPr lang="en-US" sz="1700" dirty="0"/>
          </a:p>
        </p:txBody>
      </p:sp>
      <p:sp>
        <p:nvSpPr>
          <p:cNvPr id="55" name="Text 46"/>
          <p:cNvSpPr txBox="1"/>
          <p:nvPr/>
        </p:nvSpPr>
        <p:spPr>
          <a:xfrm>
            <a:off x="11228832" y="545896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Slow-Drift Monitor</a:t>
            </a:r>
            <a:endParaRPr lang="en-US" sz="1450" dirty="0"/>
          </a:p>
        </p:txBody>
      </p:sp>
      <p:sp>
        <p:nvSpPr>
          <p:cNvPr id="56" name="Text 47"/>
          <p:cNvSpPr txBox="1"/>
          <p:nvPr/>
        </p:nvSpPr>
        <p:spPr>
          <a:xfrm>
            <a:off x="11228832" y="576072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+ JS-divergence over sliding windows</a:t>
            </a:r>
            <a:endParaRPr lang="en-US" sz="1150" dirty="0"/>
          </a:p>
        </p:txBody>
      </p:sp>
      <p:sp>
        <p:nvSpPr>
          <p:cNvPr id="57" name="Shape 48"/>
          <p:cNvSpPr/>
          <p:nvPr/>
        </p:nvSpPr>
        <p:spPr>
          <a:xfrm>
            <a:off x="10652760" y="6217920"/>
            <a:ext cx="3429000" cy="731520"/>
          </a:xfrm>
          <a:prstGeom prst="roundRect">
            <a:avLst>
              <a:gd name="adj" fmla="val 15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10744200" y="6336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D5</a:t>
            </a:r>
            <a:endParaRPr lang="en-US" sz="1700" dirty="0"/>
          </a:p>
        </p:txBody>
      </p:sp>
      <p:sp>
        <p:nvSpPr>
          <p:cNvPr id="59" name="Text 50"/>
          <p:cNvSpPr txBox="1"/>
          <p:nvPr/>
        </p:nvSpPr>
        <p:spPr>
          <a:xfrm>
            <a:off x="11228832" y="628192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Propagation</a:t>
            </a:r>
            <a:endParaRPr lang="en-US" sz="1450" dirty="0"/>
          </a:p>
        </p:txBody>
      </p:sp>
      <p:sp>
        <p:nvSpPr>
          <p:cNvPr id="60" name="Text 51"/>
          <p:cNvSpPr txBox="1"/>
          <p:nvPr/>
        </p:nvSpPr>
        <p:spPr>
          <a:xfrm>
            <a:off x="11228832" y="6583680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inherited along the delegation graph</a:t>
            </a:r>
            <a:endParaRPr lang="en-US" sz="1150" dirty="0"/>
          </a:p>
        </p:txBody>
      </p:sp>
      <p:sp>
        <p:nvSpPr>
          <p:cNvPr id="61" name="Shape 52"/>
          <p:cNvSpPr/>
          <p:nvPr/>
        </p:nvSpPr>
        <p:spPr>
          <a:xfrm rot="5400000">
            <a:off x="14154912" y="4777740"/>
            <a:ext cx="329184" cy="329184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14584680" y="2487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 &amp; RESPOND</a:t>
            </a:r>
            <a:endParaRPr lang="en-US" sz="1500" dirty="0"/>
          </a:p>
        </p:txBody>
      </p:sp>
      <p:sp>
        <p:nvSpPr>
          <p:cNvPr id="63" name="Shape 54"/>
          <p:cNvSpPr/>
          <p:nvPr/>
        </p:nvSpPr>
        <p:spPr>
          <a:xfrm>
            <a:off x="14584680" y="2926080"/>
            <a:ext cx="3200400" cy="1325880"/>
          </a:xfrm>
          <a:prstGeom prst="roundRect">
            <a:avLst>
              <a:gd name="adj" fmla="val 8276"/>
            </a:avLst>
          </a:prstGeom>
          <a:solidFill>
            <a:srgbClr val="1C0A0C">
              <a:alpha val="88000"/>
            </a:srgbClr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77800" dist="50800" dir="16200000">
              <a:srgbClr val="E0262D">
                <a:alpha val="70000"/>
              </a:srgbClr>
            </a:outerShdw>
          </a:effectLst>
        </p:spPr>
      </p:sp>
      <p:pic>
        <p:nvPicPr>
          <p:cNvPr id="6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03552" y="3017520"/>
            <a:ext cx="384048" cy="384048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15133320" y="3035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DOPPELGÄNGER TEST</a:t>
            </a:r>
            <a:endParaRPr lang="en-US" sz="1550" dirty="0"/>
          </a:p>
        </p:txBody>
      </p:sp>
      <p:sp>
        <p:nvSpPr>
          <p:cNvPr id="66" name="Text 56"/>
          <p:cNvSpPr txBox="1"/>
          <p:nvPr/>
        </p:nvSpPr>
        <p:spPr>
          <a:xfrm>
            <a:off x="14721840" y="345643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≥ 40: a sandboxed twin replays the task without the untrusted input. Divergence = injection proven.</a:t>
            </a:r>
            <a:endParaRPr lang="en-US" sz="1200" dirty="0"/>
          </a:p>
        </p:txBody>
      </p:sp>
      <p:sp>
        <p:nvSpPr>
          <p:cNvPr id="67" name="Shape 57"/>
          <p:cNvSpPr/>
          <p:nvPr/>
        </p:nvSpPr>
        <p:spPr>
          <a:xfrm>
            <a:off x="14584680" y="4389120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6FDC9B">
              <a:alpha val="18000"/>
            </a:srgbClr>
          </a:solidFill>
          <a:ln w="15875">
            <a:solidFill>
              <a:srgbClr val="6FDC9B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14676120" y="448056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D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0–39</a:t>
            </a:r>
            <a:endParaRPr lang="en-US" sz="1400" dirty="0"/>
          </a:p>
        </p:txBody>
      </p:sp>
      <p:sp>
        <p:nvSpPr>
          <p:cNvPr id="69" name="Text 59"/>
          <p:cNvSpPr txBox="1"/>
          <p:nvPr/>
        </p:nvSpPr>
        <p:spPr>
          <a:xfrm>
            <a:off x="15361920" y="4425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50" dirty="0"/>
          </a:p>
        </p:txBody>
      </p:sp>
      <p:sp>
        <p:nvSpPr>
          <p:cNvPr id="70" name="Text 60"/>
          <p:cNvSpPr txBox="1"/>
          <p:nvPr/>
        </p:nvSpPr>
        <p:spPr>
          <a:xfrm>
            <a:off x="15361920" y="4681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learn</a:t>
            </a:r>
            <a:endParaRPr lang="en-US" sz="1150" dirty="0"/>
          </a:p>
        </p:txBody>
      </p:sp>
      <p:sp>
        <p:nvSpPr>
          <p:cNvPr id="71" name="Shape 61"/>
          <p:cNvSpPr/>
          <p:nvPr/>
        </p:nvSpPr>
        <p:spPr>
          <a:xfrm>
            <a:off x="14584680" y="5047488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C061">
              <a:alpha val="18000"/>
            </a:srgbClr>
          </a:solidFill>
          <a:ln w="15875">
            <a:solidFill>
              <a:srgbClr val="FFC061"/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14676120" y="5138928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40–69</a:t>
            </a:r>
            <a:endParaRPr lang="en-US" sz="1400" dirty="0"/>
          </a:p>
        </p:txBody>
      </p:sp>
      <p:sp>
        <p:nvSpPr>
          <p:cNvPr id="73" name="Text 63"/>
          <p:cNvSpPr txBox="1"/>
          <p:nvPr/>
        </p:nvSpPr>
        <p:spPr>
          <a:xfrm>
            <a:off x="15361920" y="5084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</a:t>
            </a:r>
            <a:endParaRPr lang="en-US" sz="1350" dirty="0"/>
          </a:p>
        </p:txBody>
      </p:sp>
      <p:sp>
        <p:nvSpPr>
          <p:cNvPr id="74" name="Text 64"/>
          <p:cNvSpPr txBox="1"/>
          <p:nvPr/>
        </p:nvSpPr>
        <p:spPr>
          <a:xfrm>
            <a:off x="15361920" y="5340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approves next action</a:t>
            </a:r>
            <a:endParaRPr lang="en-US" sz="1150" dirty="0"/>
          </a:p>
        </p:txBody>
      </p:sp>
      <p:sp>
        <p:nvSpPr>
          <p:cNvPr id="75" name="Shape 65"/>
          <p:cNvSpPr/>
          <p:nvPr/>
        </p:nvSpPr>
        <p:spPr>
          <a:xfrm>
            <a:off x="14584680" y="5705856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FF8A3D">
              <a:alpha val="18000"/>
            </a:srgbClr>
          </a:solidFill>
          <a:ln w="15875">
            <a:solidFill>
              <a:srgbClr val="FF8A3D"/>
            </a:solidFill>
            <a:prstDash val="solid"/>
          </a:ln>
        </p:spPr>
      </p:sp>
      <p:sp>
        <p:nvSpPr>
          <p:cNvPr id="76" name="Text 66"/>
          <p:cNvSpPr txBox="1"/>
          <p:nvPr/>
        </p:nvSpPr>
        <p:spPr>
          <a:xfrm>
            <a:off x="14676120" y="5797296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</a:t>
            </a:r>
            <a:endParaRPr lang="en-US" sz="1400" dirty="0"/>
          </a:p>
        </p:txBody>
      </p:sp>
      <p:sp>
        <p:nvSpPr>
          <p:cNvPr id="77" name="Text 67"/>
          <p:cNvSpPr txBox="1"/>
          <p:nvPr/>
        </p:nvSpPr>
        <p:spPr>
          <a:xfrm>
            <a:off x="15361920" y="5742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SCOPE-SHRINK</a:t>
            </a:r>
            <a:endParaRPr lang="en-US" sz="1350" dirty="0"/>
          </a:p>
        </p:txBody>
      </p:sp>
      <p:sp>
        <p:nvSpPr>
          <p:cNvPr id="78" name="Text 68"/>
          <p:cNvSpPr txBox="1"/>
          <p:nvPr/>
        </p:nvSpPr>
        <p:spPr>
          <a:xfrm>
            <a:off x="15361920" y="5998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token</a:t>
            </a:r>
            <a:endParaRPr lang="en-US" sz="1150" dirty="0"/>
          </a:p>
        </p:txBody>
      </p:sp>
      <p:sp>
        <p:nvSpPr>
          <p:cNvPr id="79" name="Shape 69"/>
          <p:cNvSpPr/>
          <p:nvPr/>
        </p:nvSpPr>
        <p:spPr>
          <a:xfrm>
            <a:off x="14584680" y="6364224"/>
            <a:ext cx="3200400" cy="566928"/>
          </a:xfrm>
          <a:prstGeom prst="roundRect">
            <a:avLst>
              <a:gd name="adj" fmla="val 16129"/>
            </a:avLst>
          </a:prstGeom>
          <a:solidFill>
            <a:srgbClr val="E0262D">
              <a:alpha val="18000"/>
            </a:srgbClr>
          </a:solidFill>
          <a:ln w="15875">
            <a:solidFill>
              <a:srgbClr val="E0262D"/>
            </a:solidFill>
            <a:prstDash val="solid"/>
          </a:ln>
        </p:spPr>
      </p:sp>
      <p:sp>
        <p:nvSpPr>
          <p:cNvPr id="80" name="Text 70"/>
          <p:cNvSpPr txBox="1"/>
          <p:nvPr/>
        </p:nvSpPr>
        <p:spPr>
          <a:xfrm>
            <a:off x="14676120" y="6455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85+</a:t>
            </a:r>
            <a:endParaRPr lang="en-US" sz="1400" dirty="0"/>
          </a:p>
        </p:txBody>
      </p:sp>
      <p:sp>
        <p:nvSpPr>
          <p:cNvPr id="81" name="Text 71"/>
          <p:cNvSpPr txBox="1"/>
          <p:nvPr/>
        </p:nvSpPr>
        <p:spPr>
          <a:xfrm>
            <a:off x="1536192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</a:t>
            </a:r>
            <a:endParaRPr lang="en-US" sz="1350" dirty="0"/>
          </a:p>
        </p:txBody>
      </p:sp>
      <p:sp>
        <p:nvSpPr>
          <p:cNvPr id="82" name="Text 72"/>
          <p:cNvSpPr txBox="1"/>
          <p:nvPr/>
        </p:nvSpPr>
        <p:spPr>
          <a:xfrm>
            <a:off x="15361920" y="6656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+ token revoke</a:t>
            </a:r>
            <a:endParaRPr lang="en-US" sz="1150" dirty="0"/>
          </a:p>
        </p:txBody>
      </p:sp>
      <p:sp>
        <p:nvSpPr>
          <p:cNvPr id="83" name="Shape 73"/>
          <p:cNvSpPr/>
          <p:nvPr/>
        </p:nvSpPr>
        <p:spPr>
          <a:xfrm>
            <a:off x="8595360" y="7178040"/>
            <a:ext cx="7589520" cy="0"/>
          </a:xfrm>
          <a:prstGeom prst="line">
            <a:avLst/>
          </a:prstGeom>
          <a:noFill/>
          <a:ln w="19050">
            <a:solidFill>
              <a:srgbClr val="FFC061"/>
            </a:solidFill>
            <a:prstDash val="dash"/>
            <a:headEnd type="triangle"/>
          </a:ln>
        </p:spPr>
      </p:sp>
      <p:sp>
        <p:nvSpPr>
          <p:cNvPr id="84" name="Shape 74"/>
          <p:cNvSpPr/>
          <p:nvPr/>
        </p:nvSpPr>
        <p:spPr>
          <a:xfrm>
            <a:off x="16184880" y="7040880"/>
            <a:ext cx="0" cy="137160"/>
          </a:xfrm>
          <a:prstGeom prst="line">
            <a:avLst/>
          </a:prstGeom>
          <a:noFill/>
          <a:ln w="19050">
            <a:solidFill>
              <a:srgbClr val="FFC061"/>
            </a:solidFill>
            <a:prstDash val="dash"/>
          </a:ln>
        </p:spPr>
      </p:sp>
      <p:sp>
        <p:nvSpPr>
          <p:cNvPr id="85" name="Shape 75"/>
          <p:cNvSpPr/>
          <p:nvPr/>
        </p:nvSpPr>
        <p:spPr>
          <a:xfrm>
            <a:off x="8595360" y="7040880"/>
            <a:ext cx="0" cy="137160"/>
          </a:xfrm>
          <a:prstGeom prst="line">
            <a:avLst/>
          </a:prstGeom>
          <a:noFill/>
          <a:ln w="19050">
            <a:solidFill>
              <a:srgbClr val="FFC061"/>
            </a:solidFill>
            <a:prstDash val="dash"/>
          </a:ln>
        </p:spPr>
      </p:sp>
      <p:sp>
        <p:nvSpPr>
          <p:cNvPr id="86" name="Text 76"/>
          <p:cNvSpPr txBox="1"/>
          <p:nvPr/>
        </p:nvSpPr>
        <p:spPr>
          <a:xfrm>
            <a:off x="8595360" y="7223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FC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approved role changes re-version the contract, so legit change is learned</a:t>
            </a:r>
            <a:endParaRPr lang="en-US" sz="1250" dirty="0"/>
          </a:p>
        </p:txBody>
      </p:sp>
      <p:sp>
        <p:nvSpPr>
          <p:cNvPr id="87" name="Shape 77"/>
          <p:cNvSpPr/>
          <p:nvPr/>
        </p:nvSpPr>
        <p:spPr>
          <a:xfrm>
            <a:off x="502920" y="7726680"/>
            <a:ext cx="8138160" cy="1874520"/>
          </a:xfrm>
          <a:prstGeom prst="roundRect">
            <a:avLst>
              <a:gd name="adj" fmla="val 5854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E0262D"/>
            </a:solidFill>
            <a:prstDash val="solid"/>
          </a:ln>
        </p:spPr>
      </p:sp>
      <p:sp>
        <p:nvSpPr>
          <p:cNvPr id="88" name="Text 78"/>
          <p:cNvSpPr txBox="1"/>
          <p:nvPr/>
        </p:nvSpPr>
        <p:spPr>
          <a:xfrm>
            <a:off x="731520" y="784555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POSSESSION SCORE  ·  explainable, top-3 reasons on every alert</a:t>
            </a:r>
            <a:endParaRPr lang="en-US" sz="1400" dirty="0"/>
          </a:p>
        </p:txBody>
      </p:sp>
      <p:sp>
        <p:nvSpPr>
          <p:cNvPr id="89" name="Text 79"/>
          <p:cNvSpPr txBox="1"/>
          <p:nvPr/>
        </p:nvSpPr>
        <p:spPr>
          <a:xfrm>
            <a:off x="731520" y="8229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 = 100 · σ( w₁·Role + w₂·Seq + w₃·Taint + w₄·Drift + w₅·Chain + w₆·Twin − b )</a:t>
            </a:r>
            <a:endParaRPr lang="en-US" sz="1600" dirty="0"/>
          </a:p>
        </p:txBody>
      </p:sp>
      <p:sp>
        <p:nvSpPr>
          <p:cNvPr id="90" name="Text 80"/>
          <p:cNvSpPr txBox="1"/>
          <p:nvPr/>
        </p:nvSpPr>
        <p:spPr>
          <a:xfrm>
            <a:off x="731520" y="8778240"/>
            <a:ext cx="7726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fit by logistic regression on red-team runs. Hard contract violations and any D3COY bait touch floor the score at 70, so slow mimicry can’t hide below threshold.</a:t>
            </a:r>
            <a:endParaRPr lang="en-US" sz="1400" dirty="0"/>
          </a:p>
        </p:txBody>
      </p:sp>
      <p:sp>
        <p:nvSpPr>
          <p:cNvPr id="91" name="Text 81"/>
          <p:cNvSpPr txBox="1"/>
          <p:nvPr/>
        </p:nvSpPr>
        <p:spPr>
          <a:xfrm>
            <a:off x="8961120" y="77266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WITH</a:t>
            </a:r>
            <a:endParaRPr lang="en-US" sz="1400" dirty="0"/>
          </a:p>
        </p:txBody>
      </p:sp>
      <p:sp>
        <p:nvSpPr>
          <p:cNvPr id="92" name="Shape 82"/>
          <p:cNvSpPr/>
          <p:nvPr/>
        </p:nvSpPr>
        <p:spPr>
          <a:xfrm>
            <a:off x="8961120" y="811987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93" name="Text 83"/>
          <p:cNvSpPr txBox="1"/>
          <p:nvPr/>
        </p:nvSpPr>
        <p:spPr>
          <a:xfrm>
            <a:off x="8961120" y="8119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</a:t>
            </a:r>
            <a:endParaRPr lang="en-US" sz="1300" dirty="0"/>
          </a:p>
        </p:txBody>
      </p:sp>
      <p:sp>
        <p:nvSpPr>
          <p:cNvPr id="94" name="Shape 84"/>
          <p:cNvSpPr/>
          <p:nvPr/>
        </p:nvSpPr>
        <p:spPr>
          <a:xfrm>
            <a:off x="11905488" y="811987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95" name="Text 85"/>
          <p:cNvSpPr txBox="1"/>
          <p:nvPr/>
        </p:nvSpPr>
        <p:spPr>
          <a:xfrm>
            <a:off x="11905488" y="8119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 / Kafka</a:t>
            </a:r>
            <a:endParaRPr lang="en-US" sz="1300" dirty="0"/>
          </a:p>
        </p:txBody>
      </p:sp>
      <p:sp>
        <p:nvSpPr>
          <p:cNvPr id="96" name="Shape 86"/>
          <p:cNvSpPr/>
          <p:nvPr/>
        </p:nvSpPr>
        <p:spPr>
          <a:xfrm>
            <a:off x="14849856" y="811987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97" name="Text 87"/>
          <p:cNvSpPr txBox="1"/>
          <p:nvPr/>
        </p:nvSpPr>
        <p:spPr>
          <a:xfrm>
            <a:off x="14849856" y="811987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PyTorch</a:t>
            </a:r>
            <a:endParaRPr lang="en-US" sz="1300" dirty="0"/>
          </a:p>
        </p:txBody>
      </p:sp>
      <p:sp>
        <p:nvSpPr>
          <p:cNvPr id="98" name="Shape 88"/>
          <p:cNvSpPr/>
          <p:nvPr/>
        </p:nvSpPr>
        <p:spPr>
          <a:xfrm>
            <a:off x="8961120" y="862279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99" name="Text 89"/>
          <p:cNvSpPr txBox="1"/>
          <p:nvPr/>
        </p:nvSpPr>
        <p:spPr>
          <a:xfrm>
            <a:off x="8961120" y="86227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100" name="Shape 90"/>
          <p:cNvSpPr/>
          <p:nvPr/>
        </p:nvSpPr>
        <p:spPr>
          <a:xfrm>
            <a:off x="11905488" y="862279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101" name="Text 91"/>
          <p:cNvSpPr txBox="1"/>
          <p:nvPr/>
        </p:nvSpPr>
        <p:spPr>
          <a:xfrm>
            <a:off x="11905488" y="86227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delegation graph</a:t>
            </a:r>
            <a:endParaRPr lang="en-US" sz="1300" dirty="0"/>
          </a:p>
        </p:txBody>
      </p:sp>
      <p:sp>
        <p:nvSpPr>
          <p:cNvPr id="102" name="Shape 92"/>
          <p:cNvSpPr/>
          <p:nvPr/>
        </p:nvSpPr>
        <p:spPr>
          <a:xfrm>
            <a:off x="14849856" y="862279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103" name="Text 93"/>
          <p:cNvSpPr txBox="1"/>
          <p:nvPr/>
        </p:nvSpPr>
        <p:spPr>
          <a:xfrm>
            <a:off x="14849856" y="862279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Policy Agent</a:t>
            </a:r>
            <a:endParaRPr lang="en-US" sz="1300" dirty="0"/>
          </a:p>
        </p:txBody>
      </p:sp>
      <p:sp>
        <p:nvSpPr>
          <p:cNvPr id="104" name="Shape 94"/>
          <p:cNvSpPr/>
          <p:nvPr/>
        </p:nvSpPr>
        <p:spPr>
          <a:xfrm>
            <a:off x="8961120" y="912571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105" name="Text 95"/>
          <p:cNvSpPr txBox="1"/>
          <p:nvPr/>
        </p:nvSpPr>
        <p:spPr>
          <a:xfrm>
            <a:off x="8961120" y="91257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D3 console</a:t>
            </a:r>
            <a:endParaRPr lang="en-US" sz="1300" dirty="0"/>
          </a:p>
        </p:txBody>
      </p:sp>
      <p:sp>
        <p:nvSpPr>
          <p:cNvPr id="106" name="Shape 96"/>
          <p:cNvSpPr/>
          <p:nvPr/>
        </p:nvSpPr>
        <p:spPr>
          <a:xfrm>
            <a:off x="11905488" y="912571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107" name="Text 97"/>
          <p:cNvSpPr txBox="1"/>
          <p:nvPr/>
        </p:nvSpPr>
        <p:spPr>
          <a:xfrm>
            <a:off x="11905488" y="91257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K8s sidecar</a:t>
            </a:r>
            <a:endParaRPr lang="en-US" sz="1300" dirty="0"/>
          </a:p>
        </p:txBody>
      </p:sp>
      <p:sp>
        <p:nvSpPr>
          <p:cNvPr id="108" name="Shape 98"/>
          <p:cNvSpPr/>
          <p:nvPr/>
        </p:nvSpPr>
        <p:spPr>
          <a:xfrm>
            <a:off x="14849856" y="9125712"/>
            <a:ext cx="2788920" cy="411480"/>
          </a:xfrm>
          <a:prstGeom prst="roundRect">
            <a:avLst>
              <a:gd name="adj" fmla="val 48889"/>
            </a:avLst>
          </a:prstGeom>
          <a:solidFill>
            <a:srgbClr val="2A0B0E"/>
          </a:solidFill>
          <a:ln w="12700">
            <a:solidFill>
              <a:srgbClr val="6A1D22"/>
            </a:solidFill>
            <a:prstDash val="solid"/>
          </a:ln>
        </p:spPr>
      </p:sp>
      <p:sp>
        <p:nvSpPr>
          <p:cNvPr id="109" name="Text 99"/>
          <p:cNvSpPr txBox="1"/>
          <p:nvPr/>
        </p:nvSpPr>
        <p:spPr>
          <a:xfrm>
            <a:off x="14849856" y="912571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· MCP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560320"/>
            <a:ext cx="8321040" cy="4874895"/>
          </a:xfrm>
          <a:prstGeom prst="rect">
            <a:avLst/>
          </a:prstGeom>
          <a:solidFill>
            <a:srgbClr val="000000"/>
          </a:solidFill>
          <a:ln w="19050">
            <a:solidFill>
              <a:srgbClr val="E0262D"/>
            </a:solidFill>
            <a:prstDash val="solid"/>
          </a:ln>
          <a:effectLst>
            <a:outerShdw sx="100000" sy="100000" kx="0" ky="0" algn="bl" rotWithShape="0" blurRad="228600" dist="50800" dir="16200000">
              <a:srgbClr val="E0262D">
                <a:alpha val="60000"/>
              </a:srgbClr>
            </a:outerShdw>
          </a:effectLst>
        </p:spPr>
      </p:sp>
      <p:pic>
        <p:nvPicPr>
          <p:cNvPr id="3" name="Image 0" descr="SOULPRINT console prototype showing a quarantined procurement agent with risk score 9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8229600" cy="47834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7480935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</a:t>
            </a:r>
            <a:pPr indent="0" marL="0">
              <a:buNone/>
            </a:pPr>
            <a:r>
              <a:rPr lang="en-US" sz="1350" i="1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350" u="sng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raj06872436.github.io/SOULPRINT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48640" y="781812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7863840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86136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agent code changed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91622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MCP proxy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55848" y="781812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55848" y="7863840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&lt;50 ms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86136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score one action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47288" y="91622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 models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7818120"/>
            <a:ext cx="2615184" cy="1828800"/>
          </a:xfrm>
          <a:prstGeom prst="roundRect">
            <a:avLst>
              <a:gd name="adj" fmla="val 6000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63056" y="7863840"/>
            <a:ext cx="2615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 bytes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6254496" y="8613648"/>
            <a:ext cx="2432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prompt content stored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54496" y="9162288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metadata-only telemetry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738360" y="2560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IS FEASIBLE TODAY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738360" y="3017520"/>
            <a:ext cx="658368" cy="658368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034" y="3149194"/>
            <a:ext cx="395021" cy="395021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607040" y="2999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10607040" y="3310128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on open standards (MCP, OpenTelemetry, OPA) and light models that run on a laptop CPU.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9738360" y="3931920"/>
            <a:ext cx="658368" cy="658368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0034" y="4063594"/>
            <a:ext cx="395021" cy="395021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607040" y="3913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10607040" y="4224528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shadow mode, then graduated response: no business process is ever hard-stopped by a guess.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9738360" y="4846320"/>
            <a:ext cx="658368" cy="658368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034" y="4977994"/>
            <a:ext cx="395021" cy="39502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607040" y="4828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10607040" y="5138928"/>
            <a:ext cx="7178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Open-core SDK + SaaS console priced per monitored agent: cheap to try, scales with agent adoption.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9738360" y="5897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RISKS WE PLANNED FOR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738360" y="635508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120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in SOULPRINT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01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BD9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on legit change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DE2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Doppelgänger replay confirms the cause before any block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A0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BD9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/ short-lived agents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D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DE2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Role-cohort prior gives a baseline from minute zero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D1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BD9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mimicry to evade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A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DE2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CUSUM on long windows + hard contract floors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0A0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BD9C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of agent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D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DE2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 resource IDs, no prompt/response payloads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14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0D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560320"/>
            <a:ext cx="6172200" cy="2148840"/>
          </a:xfrm>
          <a:prstGeom prst="roundRect">
            <a:avLst>
              <a:gd name="adj" fmla="val 5106"/>
            </a:avLst>
          </a:prstGeom>
          <a:solidFill>
            <a:srgbClr val="0E0506">
              <a:alpha val="90000"/>
            </a:srgbClr>
          </a:solidFill>
          <a:ln w="15875">
            <a:solidFill>
              <a:srgbClr val="4A404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2697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FA9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IAM ASKS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0632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“Is this identity allowed?”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7033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Hijacked agent = valid token = silent breach. Detected weeks later, if ever.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 rot="5400000">
            <a:off x="6903720" y="3401568"/>
            <a:ext cx="457200" cy="457200"/>
          </a:xfrm>
          <a:prstGeom prst="triangle">
            <a:avLst/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560320"/>
            <a:ext cx="6172200" cy="2148840"/>
          </a:xfrm>
          <a:prstGeom prst="roundRect">
            <a:avLst>
              <a:gd name="adj" fmla="val 5106"/>
            </a:avLst>
          </a:prstGeom>
          <a:solidFill>
            <a:srgbClr val="1C0A0C">
              <a:alpha val="88000"/>
            </a:srgbClr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203200" dist="50800" dir="16200000">
              <a:srgbClr val="E0262D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18120" y="2697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SOULPRINT · WE ASK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30632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“Is this identity still itself?”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37033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caught in seconds, explained in plain words, contained without stopping honest work.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3218688" cy="4023360"/>
          </a:xfrm>
          <a:prstGeom prst="roundRect">
            <a:avLst>
              <a:gd name="adj" fmla="val 3409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23644" y="5257800"/>
            <a:ext cx="868680" cy="86868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5431536"/>
            <a:ext cx="521208" cy="5212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" y="626364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Security teams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6812280"/>
            <a:ext cx="28986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valid-credential blind spot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explain themselves: faster triage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suspicion: twin names the culprit file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050792" y="5029200"/>
            <a:ext cx="3218688" cy="4023360"/>
          </a:xfrm>
          <a:prstGeom prst="roundRect">
            <a:avLst>
              <a:gd name="adj" fmla="val 3409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225796" y="5257800"/>
            <a:ext cx="868680" cy="86868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532" y="5431536"/>
            <a:ext cx="521208" cy="52120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142232" y="626364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Businesses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4233672" y="6812280"/>
            <a:ext cx="28986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keep working: scope-shrink, not shutdown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to give agents real autonomy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data leaks before exfiltration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552944" y="5029200"/>
            <a:ext cx="3218688" cy="4023360"/>
          </a:xfrm>
          <a:prstGeom prst="roundRect">
            <a:avLst>
              <a:gd name="adj" fmla="val 3409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727948" y="5257800"/>
            <a:ext cx="868680" cy="86868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684" y="5431536"/>
            <a:ext cx="521208" cy="5212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644384" y="626364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Compliance &amp; audit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7735824" y="6812280"/>
            <a:ext cx="28986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audit trail for every agent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India DPDP Act 2023, EU AI Act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ISO/IEC 42001 &amp; NIST AI RMF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11055096" y="5029200"/>
            <a:ext cx="3218688" cy="4023360"/>
          </a:xfrm>
          <a:prstGeom prst="roundRect">
            <a:avLst>
              <a:gd name="adj" fmla="val 3409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2230100" y="5257800"/>
            <a:ext cx="868680" cy="868680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3836" y="5431536"/>
            <a:ext cx="521208" cy="52120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1146536" y="6263640"/>
            <a:ext cx="303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BD9C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Ecosystem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11237976" y="6812280"/>
            <a:ext cx="289864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adoption of agentic AI at scale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“possession signatures”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Framework-agnostic, open-core SDK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MAKES SOULPRINT DIFFERENT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3063240"/>
            <a:ext cx="8869680" cy="1170432"/>
          </a:xfrm>
          <a:prstGeom prst="roundRect">
            <a:avLst>
              <a:gd name="adj" fmla="val 9375"/>
            </a:avLst>
          </a:prstGeom>
          <a:solidFill>
            <a:srgbClr val="1C0A0C">
              <a:alpha val="88000"/>
            </a:srgbClr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77800" dist="50800" dir="16200000">
              <a:srgbClr val="E0262D">
                <a:alpha val="6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18120" y="3191256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18120" y="31912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SOULPRINT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3246120"/>
            <a:ext cx="804672" cy="804672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3407054"/>
            <a:ext cx="482803" cy="482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31912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Doppelgänger Test: proof, not suspicion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3575304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sandboxed twin replays the task without the untrusted input. Divergence proves the injection and names the culprit file.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4379976"/>
            <a:ext cx="8869680" cy="1170432"/>
          </a:xfrm>
          <a:prstGeom prst="roundRect">
            <a:avLst>
              <a:gd name="adj" fmla="val 9375"/>
            </a:avLst>
          </a:prstGeom>
          <a:solidFill>
            <a:srgbClr val="1C0A0C">
              <a:alpha val="88000"/>
            </a:srgbClr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77800" dist="50800" dir="16200000">
              <a:srgbClr val="E0262D">
                <a:alpha val="6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818120" y="450799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E0262D"/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450799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SOULPRINT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" y="4562856"/>
            <a:ext cx="804672" cy="804672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4723790"/>
            <a:ext cx="482803" cy="482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691640" y="45079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Role-shaped D3COY baits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1691640" y="489204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files and keys planted per role that only a possessed agent would touch: alarms with near-zero doubt.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5696712"/>
            <a:ext cx="8869680" cy="1170432"/>
          </a:xfrm>
          <a:prstGeom prst="roundRect">
            <a:avLst>
              <a:gd name="adj" fmla="val 9375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" y="5879592"/>
            <a:ext cx="804672" cy="804672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6040526"/>
            <a:ext cx="482803" cy="48280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691640" y="58247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with root cause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1691640" y="6208776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against declared purpose; provenance taint links the poisoned input to the bad action.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548640" y="7013448"/>
            <a:ext cx="8869680" cy="1170432"/>
          </a:xfrm>
          <a:prstGeom prst="roundRect">
            <a:avLst>
              <a:gd name="adj" fmla="val 9375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13232" y="7196328"/>
            <a:ext cx="804672" cy="804672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7357262"/>
            <a:ext cx="482803" cy="482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91640" y="714146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Minute-zero &amp; chain-aware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1691640" y="7525512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Role-cohort priors for new agents; risk flows along agent-to-agent delegation.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548640" y="8330184"/>
            <a:ext cx="8869680" cy="1170432"/>
          </a:xfrm>
          <a:prstGeom prst="roundRect">
            <a:avLst>
              <a:gd name="adj" fmla="val 9375"/>
            </a:avLst>
          </a:prstGeom>
          <a:solidFill>
            <a:srgbClr val="1C0A0C">
              <a:alpha val="88000"/>
            </a:srgbClr>
          </a:solidFill>
          <a:ln w="15875">
            <a:solidFill>
              <a:srgbClr val="6A1D2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13232" y="8513064"/>
            <a:ext cx="804672" cy="804672"/>
          </a:xfrm>
          <a:prstGeom prst="ellipse">
            <a:avLst/>
          </a:prstGeom>
          <a:solidFill>
            <a:srgbClr val="2A0B0E"/>
          </a:solidFill>
          <a:ln w="25400">
            <a:solidFill>
              <a:srgbClr val="E0262D"/>
            </a:solidFill>
            <a:prstDash val="solid"/>
          </a:ln>
          <a:effectLst>
            <a:outerShdw sx="100000" sy="100000" kx="0" ky="0" algn="bl" rotWithShape="0" blurRad="152400" dist="50800" dir="16200000">
              <a:srgbClr val="E0262D">
                <a:alpha val="55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6" y="8673998"/>
            <a:ext cx="482803" cy="48280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691640" y="84582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BD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then exorcise gently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1691640" y="8842248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has reasons; containment is graduated, so legit work continues.</a:t>
            </a:r>
            <a:endParaRPr lang="en-US" sz="1450" dirty="0"/>
          </a:p>
        </p:txBody>
      </p:sp>
      <p:sp>
        <p:nvSpPr>
          <p:cNvPr id="32" name="Shape 25"/>
          <p:cNvSpPr/>
          <p:nvPr/>
        </p:nvSpPr>
        <p:spPr>
          <a:xfrm>
            <a:off x="13761720" y="2487168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0E0506">
              <a:alpha val="80000"/>
            </a:srgbClr>
          </a:solidFill>
          <a:ln w="12700">
            <a:solidFill>
              <a:srgbClr val="E0262D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13761720" y="248716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26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ROAD AHEAD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13368528" y="3108960"/>
            <a:ext cx="0" cy="6400800"/>
          </a:xfrm>
          <a:prstGeom prst="line">
            <a:avLst/>
          </a:prstGeom>
          <a:noFill/>
          <a:ln w="31750">
            <a:solidFill>
              <a:srgbClr val="E0262D"/>
            </a:solidFill>
            <a:prstDash val="dash"/>
          </a:ln>
        </p:spPr>
      </p:sp>
      <p:sp>
        <p:nvSpPr>
          <p:cNvPr id="35" name="Shape 28"/>
          <p:cNvSpPr/>
          <p:nvPr/>
        </p:nvSpPr>
        <p:spPr>
          <a:xfrm>
            <a:off x="13213080" y="3566160"/>
            <a:ext cx="310896" cy="310896"/>
          </a:xfrm>
          <a:prstGeom prst="ellipse">
            <a:avLst/>
          </a:prstGeom>
          <a:solidFill>
            <a:srgbClr val="E026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16200000">
              <a:srgbClr val="E0262D">
                <a:alpha val="9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829800" y="306324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0E0506">
              <a:alpha val="82000"/>
            </a:srgbClr>
          </a:solidFill>
          <a:ln w="15875">
            <a:solidFill>
              <a:srgbClr val="E0262D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9994392" y="31729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50" dirty="0"/>
          </a:p>
        </p:txBody>
      </p:sp>
      <p:sp>
        <p:nvSpPr>
          <p:cNvPr id="38" name="Text 31"/>
          <p:cNvSpPr txBox="1"/>
          <p:nvPr/>
        </p:nvSpPr>
        <p:spPr>
          <a:xfrm>
            <a:off x="9994392" y="34472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9994392" y="381304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5 detectors, Doppelgänger twin, decoys, live console</a:t>
            </a:r>
            <a:endParaRPr lang="en-US" sz="1350" dirty="0"/>
          </a:p>
        </p:txBody>
      </p:sp>
      <p:sp>
        <p:nvSpPr>
          <p:cNvPr id="40" name="Shape 33"/>
          <p:cNvSpPr/>
          <p:nvPr/>
        </p:nvSpPr>
        <p:spPr>
          <a:xfrm>
            <a:off x="13213080" y="5212080"/>
            <a:ext cx="310896" cy="310896"/>
          </a:xfrm>
          <a:prstGeom prst="ellipse">
            <a:avLst/>
          </a:prstGeom>
          <a:solidFill>
            <a:srgbClr val="E026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16200000">
              <a:srgbClr val="E0262D">
                <a:alpha val="90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3761720" y="470916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0E0506">
              <a:alpha val="82000"/>
            </a:srgbClr>
          </a:solidFill>
          <a:ln w="15875">
            <a:solidFill>
              <a:srgbClr val="E0262D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13926312" y="48188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</a:t>
            </a:r>
            <a:endParaRPr lang="en-US" sz="1250" dirty="0"/>
          </a:p>
        </p:txBody>
      </p:sp>
      <p:sp>
        <p:nvSpPr>
          <p:cNvPr id="43" name="Text 36"/>
          <p:cNvSpPr txBox="1"/>
          <p:nvPr/>
        </p:nvSpPr>
        <p:spPr>
          <a:xfrm>
            <a:off x="13926312" y="50932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&amp; play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13926312" y="545896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CrewAI / MCP plug-ins; Splunk &amp; Sentinel export</a:t>
            </a:r>
            <a:endParaRPr lang="en-US" sz="1350" dirty="0"/>
          </a:p>
        </p:txBody>
      </p:sp>
      <p:sp>
        <p:nvSpPr>
          <p:cNvPr id="45" name="Shape 38"/>
          <p:cNvSpPr/>
          <p:nvPr/>
        </p:nvSpPr>
        <p:spPr>
          <a:xfrm>
            <a:off x="13213080" y="6858000"/>
            <a:ext cx="310896" cy="310896"/>
          </a:xfrm>
          <a:prstGeom prst="ellipse">
            <a:avLst/>
          </a:prstGeom>
          <a:solidFill>
            <a:srgbClr val="E026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16200000">
              <a:srgbClr val="E0262D">
                <a:alpha val="9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9829800" y="63550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0E0506">
              <a:alpha val="82000"/>
            </a:srgbClr>
          </a:solidFill>
          <a:ln w="15875">
            <a:solidFill>
              <a:srgbClr val="E0262D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9994392" y="6464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250" dirty="0"/>
          </a:p>
        </p:txBody>
      </p:sp>
      <p:sp>
        <p:nvSpPr>
          <p:cNvPr id="48" name="Text 41"/>
          <p:cNvSpPr txBox="1"/>
          <p:nvPr/>
        </p:nvSpPr>
        <p:spPr>
          <a:xfrm>
            <a:off x="9994392" y="67391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agents</a:t>
            </a:r>
            <a:endParaRPr lang="en-US" sz="1600" dirty="0"/>
          </a:p>
        </p:txBody>
      </p:sp>
      <p:sp>
        <p:nvSpPr>
          <p:cNvPr id="49" name="Text 42"/>
          <p:cNvSpPr txBox="1"/>
          <p:nvPr/>
        </p:nvSpPr>
        <p:spPr>
          <a:xfrm>
            <a:off x="9994392" y="710488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exorcism, auto-restore the agent from its last clean soul snapshot</a:t>
            </a:r>
            <a:endParaRPr lang="en-US" sz="1350" dirty="0"/>
          </a:p>
        </p:txBody>
      </p:sp>
      <p:sp>
        <p:nvSpPr>
          <p:cNvPr id="50" name="Shape 43"/>
          <p:cNvSpPr/>
          <p:nvPr/>
        </p:nvSpPr>
        <p:spPr>
          <a:xfrm>
            <a:off x="13213080" y="8503920"/>
            <a:ext cx="310896" cy="310896"/>
          </a:xfrm>
          <a:prstGeom prst="ellipse">
            <a:avLst/>
          </a:prstGeom>
          <a:solidFill>
            <a:srgbClr val="E0262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16200000">
              <a:srgbClr val="E0262D">
                <a:alpha val="90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13761720" y="800100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0E0506">
              <a:alpha val="82000"/>
            </a:srgbClr>
          </a:solidFill>
          <a:ln w="15875">
            <a:solidFill>
              <a:srgbClr val="E0262D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13926312" y="8110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2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endParaRPr lang="en-US" sz="1250" dirty="0"/>
          </a:p>
        </p:txBody>
      </p:sp>
      <p:sp>
        <p:nvSpPr>
          <p:cNvPr id="53" name="Text 46"/>
          <p:cNvSpPr txBox="1"/>
          <p:nvPr/>
        </p:nvSpPr>
        <p:spPr>
          <a:xfrm>
            <a:off x="13926312" y="83850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intel network</a:t>
            </a:r>
            <a:endParaRPr lang="en-US" sz="1600" dirty="0"/>
          </a:p>
        </p:txBody>
      </p:sp>
      <p:sp>
        <p:nvSpPr>
          <p:cNvPr id="54" name="Text 47"/>
          <p:cNvSpPr txBox="1"/>
          <p:nvPr/>
        </p:nvSpPr>
        <p:spPr>
          <a:xfrm>
            <a:off x="13926312" y="875080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D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sharing of attack signatures; open agent-behavior attestation spec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SOULPRINT - Identity Drift Detection for AI Agents</dc:title>
  <dc:subject>PptxGenJS Presentation</dc:subject>
  <dc:creator>PptxGenJS</dc:creator>
  <cp:lastModifiedBy>PptxGenJS</cp:lastModifiedBy>
  <cp:revision>1</cp:revision>
  <dcterms:created xsi:type="dcterms:W3CDTF">2026-10-26T14:08:13Z</dcterms:created>
  <dcterms:modified xsi:type="dcterms:W3CDTF">2026-10-26T14:08:13Z</dcterms:modified>
</cp:coreProperties>
</file>