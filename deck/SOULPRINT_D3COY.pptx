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charts/chart1.xml" ContentType="application/vnd.openxmlformats-officedocument.drawingml.chart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notesMasterIdLst>
    <p:notesMasterId r:id="rId8"/>
  </p:notesMasterIdLst>
  <p:sldSz cx="18288000" cy="10287000"/>
  <p:notesSz cx="10287000" cy="18288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notesMaster" Target="notesMasters/notesMaster1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200" b="0" i="0" u="none" strike="noStrike">
                <a:solidFill>
                  <a:srgbClr val="EBD9C6"/>
                </a:solidFill>
                <a:latin typeface="+mn-lt"/>
              </a:defRPr>
            </a:pPr>
            <a:r>
              <a:rPr sz="1200" b="0" i="0" u="none" strike="noStrike">
                <a:solidFill>
                  <a:srgbClr val="EBD9C6"/>
                </a:solidFill>
                <a:latin typeface="+mn-lt"/>
              </a:rPr>
              <a:t>Risk score over the attack (0–100)</a:t>
            </a:r>
          </a:p>
        </c:rich>
      </c:tx>
      <c:layout/>
      <c:overlay val="0"/>
    </c:title>
    <c:autoTitleDeleted val="0"/>
    <c:plotArea>
      <c:layout/>
      <c:area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Risk score</c:v>
                </c:pt>
              </c:strCache>
            </c:strRef>
          </c:tx>
          <c:spPr>
            <a:solidFill>
              <a:srgbClr val="E0262D">
                <a:alpha val="55000"/>
              </a:srgbClr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200" u="none">
                    <a:solidFill>
                      <a:srgbClr val="FFFFFF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Normal</c:v>
                  </c:pt>
                  <c:pt idx="1">
                    <c:v>Prices</c:v>
                  </c:pt>
                  <c:pt idx="2">
                    <c:v>Reads PDF</c:v>
                  </c:pt>
                  <c:pt idx="3">
                    <c:v>HR files</c:v>
                  </c:pt>
                  <c:pt idx="4">
                    <c:v>Exfil POST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8</c:v>
                </c:pt>
                <c:pt idx="1">
                  <c:v>9</c:v>
                </c:pt>
                <c:pt idx="2">
                  <c:v>31</c:v>
                </c:pt>
                <c:pt idx="3">
                  <c:v>74</c:v>
                </c:pt>
                <c:pt idx="4">
                  <c:v>92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200" u="none">
                  <a:solidFill>
                    <a:srgbClr val="FFFFFF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axId val="2094734554"/>
        <c:axId val="2094734552"/>
        <c:axId val="2094734556"/>
      </c:area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BFA99C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00"/>
          <c:min val="0"/>
        </c:scaling>
        <c:delete val="0"/>
        <c:axPos val="l"/>
        <c:majorGridlines>
          <c:spPr>
            <a:ln w="9525" cap="flat">
              <a:solidFill>
                <a:srgbClr val="3A1416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BFA99C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  <c:majorUnit val="25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Title slide. Fill team name, college and members. Problem statement: Identity Drift Detection in Autonomous AI Agents. Our product: SOULPRINT.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Core idea: IAM checks validity, SOULPRINT checks behavior-vs-role. Four steps: learn, bind to role, detect, explain &amp; contain. The PS example (Procurement agent poisoned by supplier PDF) is shown end to end: the risk climbs as the behavior leaves the role, and the agent is contained before exfiltration completes. The unique step is 03: a Doppelgänger twin replays the task without the PDF and stays in role, which proves the PDF caused the hijack. Containment time in the demo is simulated.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Architecture left to right. Gateway sits in front of tools (MCP proxy) so agents need no changes. Soul model = Role Contract (what it should do) + Fingerprint (what it normally does). Five detectors cover the PS core challenges: valid-credential attacks (role gap), prompt injection (taint), legit change vs drift (feedback loop + contract versioning), no history (cohort prior), chains (propagation), evasion (CUSUM + hard floors). Risk fused into one explainable score; at risk 40+ the Doppelgänger Test replays the task in a sandbox without untrusted input to prove cause before containment. The gateway also plants role-shaped D3COY bait resources.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Feasibility: prototype exists (see console screenshot and demo site). Uses open standards; models are lightweight. Viability: open-core + per-agent SaaS. Risks and mitigations directly map to the core challenges in the PS. Numbers on stat tiles are prototype design targets.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Shift the question from 'is it allowed' to 'is it still itself'. Benefits per stakeholder. Compliance mappings: DPDP Act 2023 (India), EU AI Act, ISO/IEC 42001, NIST AI RMF.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Five USPs. Headline USPs: the Doppelgänger Test (counterfactual twin replay proves the injection) and role-shaped D3COY baits. Roadmap along the road: MVP now, plug-ins, self-healing agents, then a federated possession-intel network.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6" Type="http://schemas.openxmlformats.org/officeDocument/2006/relationships/chart" Target="/ppt/charts/chart1.xml"/><Relationship Id="rId1" Type="http://schemas.openxmlformats.org/officeDocument/2006/relationships/image" Target="../media/Slide-2-image-1.jpe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image" Target="../media/image-2-5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jpe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image" Target="../media/image-3-5.png"/><Relationship Id="rId6" Type="http://schemas.openxmlformats.org/officeDocument/2006/relationships/image" Target="../media/image-3-6.png"/><Relationship Id="rId7" Type="http://schemas.openxmlformats.org/officeDocument/2006/relationships/image" Target="../media/image-3-7.png"/><Relationship Id="rId8" Type="http://schemas.openxmlformats.org/officeDocument/2006/relationships/image" Target="../media/image-3-8.png"/><Relationship Id="rId9" Type="http://schemas.openxmlformats.org/officeDocument/2006/relationships/image" Target="../media/image-3-9.png"/><Relationship Id="rId10" Type="http://schemas.openxmlformats.org/officeDocument/2006/relationships/slideLayout" Target="../slideLayouts/slideLayout1.xml"/><Relationship Id="rId11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hyperlink" Target="https://claude.ai/artifact/EEq7yQUDWbJjQ95RFFGFH5" TargetMode="External"/><Relationship Id="rId1" Type="http://schemas.openxmlformats.org/officeDocument/2006/relationships/image" Target="../media/Slide-4-image-1.jpeg"/><Relationship Id="rId2" Type="http://schemas.openxmlformats.org/officeDocument/2006/relationships/image" Target="../media/image-4-2.png"/><Relationship Id="rId4" Type="http://schemas.openxmlformats.org/officeDocument/2006/relationships/image" Target="../media/image-4-3.png"/><Relationship Id="rId5" Type="http://schemas.openxmlformats.org/officeDocument/2006/relationships/image" Target="../media/image-4-4.png"/><Relationship Id="rId6" Type="http://schemas.openxmlformats.org/officeDocument/2006/relationships/image" Target="../media/image-4-5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jpe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4.png"/><Relationship Id="rId5" Type="http://schemas.openxmlformats.org/officeDocument/2006/relationships/image" Target="../media/image-5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jpe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image" Target="../media/image-6-4.png"/><Relationship Id="rId5" Type="http://schemas.openxmlformats.org/officeDocument/2006/relationships/image" Target="../media/image-6-5.png"/><Relationship Id="rId6" Type="http://schemas.openxmlformats.org/officeDocument/2006/relationships/image" Target="../media/image-6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737360" y="3246120"/>
            <a:ext cx="4023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FFFFFF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[ADD TEAM NAME HERE]</a:t>
            </a:r>
            <a:endParaRPr lang="en-US" sz="1900" dirty="0"/>
          </a:p>
        </p:txBody>
      </p:sp>
      <p:sp>
        <p:nvSpPr>
          <p:cNvPr id="3" name="Text 1"/>
          <p:cNvSpPr txBox="1"/>
          <p:nvPr/>
        </p:nvSpPr>
        <p:spPr>
          <a:xfrm>
            <a:off x="6419088" y="3246120"/>
            <a:ext cx="6400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FFFFFF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[ADD COLLEGE NAME HERE]</a:t>
            </a:r>
            <a:endParaRPr lang="en-US" sz="1900" dirty="0"/>
          </a:p>
        </p:txBody>
      </p:sp>
      <p:sp>
        <p:nvSpPr>
          <p:cNvPr id="4" name="Text 2"/>
          <p:cNvSpPr txBox="1"/>
          <p:nvPr/>
        </p:nvSpPr>
        <p:spPr>
          <a:xfrm>
            <a:off x="1737360" y="5074920"/>
            <a:ext cx="11155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2100" dirty="0">
                <a:solidFill>
                  <a:srgbClr val="FFFFFF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IDENTITY DRIFT DETECTION IN AUTONOMOUS AI AGENTS</a:t>
            </a:r>
            <a:endParaRPr lang="en-US" sz="21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500" dirty="0">
                <a:solidFill>
                  <a:srgbClr val="BFA99C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Our answer: </a:t>
            </a:r>
            <a:pPr indent="0" marL="0">
              <a:spcAft>
                <a:spcPts val="600"/>
              </a:spcAft>
              <a:buNone/>
            </a:pPr>
            <a:r>
              <a:rPr lang="en-US" sz="1500" b="1" dirty="0">
                <a:solidFill>
                  <a:srgbClr val="E0262D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SOULPRINT</a:t>
            </a:r>
            <a:pPr indent="0" marL="0">
              <a:spcAft>
                <a:spcPts val="600"/>
              </a:spcAft>
              <a:buNone/>
            </a:pPr>
            <a:r>
              <a:rPr lang="en-US" sz="1500" dirty="0">
                <a:solidFill>
                  <a:srgbClr val="BFA99C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  ·  catches “possessed” AI agents with valid credentials, proven by a Doppelgänger twin</a:t>
            </a:r>
            <a:endParaRPr lang="en-US" sz="2100" dirty="0"/>
          </a:p>
        </p:txBody>
      </p:sp>
      <p:sp>
        <p:nvSpPr>
          <p:cNvPr id="5" name="Text 3"/>
          <p:cNvSpPr txBox="1"/>
          <p:nvPr/>
        </p:nvSpPr>
        <p:spPr>
          <a:xfrm>
            <a:off x="1737360" y="699516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dirty="0">
                <a:solidFill>
                  <a:srgbClr val="FFFFFF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MEMBER 1 NAME : CONTACT NO</a:t>
            </a:r>
            <a:endParaRPr lang="en-US" sz="2100" dirty="0"/>
          </a:p>
        </p:txBody>
      </p:sp>
      <p:sp>
        <p:nvSpPr>
          <p:cNvPr id="6" name="Text 4"/>
          <p:cNvSpPr txBox="1"/>
          <p:nvPr/>
        </p:nvSpPr>
        <p:spPr>
          <a:xfrm>
            <a:off x="1737360" y="7598664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dirty="0">
                <a:solidFill>
                  <a:srgbClr val="FFFFFF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MEMBER 2 NAME : CONTACT NO</a:t>
            </a:r>
            <a:endParaRPr lang="en-US" sz="2100" dirty="0"/>
          </a:p>
        </p:txBody>
      </p:sp>
      <p:sp>
        <p:nvSpPr>
          <p:cNvPr id="7" name="Text 5"/>
          <p:cNvSpPr txBox="1"/>
          <p:nvPr/>
        </p:nvSpPr>
        <p:spPr>
          <a:xfrm>
            <a:off x="1737360" y="8202168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dirty="0">
                <a:solidFill>
                  <a:srgbClr val="FFFFFF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MEMBER 3 NAME : CONTACT NO</a:t>
            </a:r>
            <a:endParaRPr lang="en-US" sz="2100" dirty="0"/>
          </a:p>
        </p:txBody>
      </p:sp>
      <p:sp>
        <p:nvSpPr>
          <p:cNvPr id="8" name="Text 6"/>
          <p:cNvSpPr txBox="1"/>
          <p:nvPr/>
        </p:nvSpPr>
        <p:spPr>
          <a:xfrm>
            <a:off x="1737360" y="8805672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dirty="0">
                <a:solidFill>
                  <a:srgbClr val="FFFFFF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MEMBER 4 NAME : CONTACT NO</a:t>
            </a:r>
            <a:endParaRPr lang="en-US" sz="2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2487168"/>
            <a:ext cx="17007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900" dirty="0">
                <a:solidFill>
                  <a:srgbClr val="EBD9C6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Credentials prove </a:t>
            </a:r>
            <a:pPr algn="ctr" indent="0" marL="0">
              <a:buNone/>
            </a:pPr>
            <a:r>
              <a:rPr lang="en-US" sz="2900" b="1" dirty="0">
                <a:solidFill>
                  <a:srgbClr val="E0262D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WHO</a:t>
            </a:r>
            <a:pPr algn="ctr" indent="0" marL="0">
              <a:buNone/>
            </a:pPr>
            <a:r>
              <a:rPr lang="en-US" sz="2900" dirty="0">
                <a:solidFill>
                  <a:srgbClr val="EBD9C6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 an agent is. </a:t>
            </a:r>
            <a:pPr algn="ctr" indent="0" marL="0">
              <a:buNone/>
            </a:pPr>
            <a:r>
              <a:rPr lang="en-US" sz="2900" b="1" dirty="0">
                <a:solidFill>
                  <a:srgbClr val="E0262D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SOULPRINT</a:t>
            </a:r>
            <a:pPr algn="ctr" indent="0" marL="0">
              <a:buNone/>
            </a:pPr>
            <a:r>
              <a:rPr lang="en-US" sz="2900" dirty="0">
                <a:solidFill>
                  <a:srgbClr val="EBD9C6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 proves it is still </a:t>
            </a:r>
            <a:pPr algn="ctr" indent="0" marL="0">
              <a:buNone/>
            </a:pPr>
            <a:r>
              <a:rPr lang="en-US" sz="2900" b="1" dirty="0">
                <a:solidFill>
                  <a:srgbClr val="E0262D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WHAT</a:t>
            </a:r>
            <a:pPr algn="ctr" indent="0" marL="0">
              <a:buNone/>
            </a:pPr>
            <a:r>
              <a:rPr lang="en-US" sz="2900" dirty="0">
                <a:solidFill>
                  <a:srgbClr val="EBD9C6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 it was built to be.</a:t>
            </a:r>
            <a:endParaRPr lang="en-US" sz="29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3090672"/>
            <a:ext cx="17007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700" i="1" dirty="0">
                <a:solidFill>
                  <a:srgbClr val="BFA99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behavioral “soul fingerprint” for every AI agent: learned continuously, checked against its declared role, and enforced in real time.</a:t>
            </a:r>
            <a:endParaRPr lang="en-US" sz="1700" dirty="0"/>
          </a:p>
        </p:txBody>
      </p:sp>
      <p:sp>
        <p:nvSpPr>
          <p:cNvPr id="4" name="Shape 2"/>
          <p:cNvSpPr/>
          <p:nvPr/>
        </p:nvSpPr>
        <p:spPr>
          <a:xfrm>
            <a:off x="548640" y="3611880"/>
            <a:ext cx="3977640" cy="1828800"/>
          </a:xfrm>
          <a:prstGeom prst="roundRect">
            <a:avLst>
              <a:gd name="adj" fmla="val 6000"/>
            </a:avLst>
          </a:prstGeom>
          <a:solidFill>
            <a:srgbClr val="1C0A0C">
              <a:alpha val="88000"/>
            </a:srgbClr>
          </a:solidFill>
          <a:ln w="15875">
            <a:solidFill>
              <a:srgbClr val="6A1D22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31520" y="3813048"/>
            <a:ext cx="777240" cy="777240"/>
          </a:xfrm>
          <a:prstGeom prst="ellipse">
            <a:avLst/>
          </a:prstGeom>
          <a:solidFill>
            <a:srgbClr val="2A0B0E"/>
          </a:solidFill>
          <a:ln w="25400">
            <a:solidFill>
              <a:srgbClr val="E0262D"/>
            </a:solidFill>
            <a:prstDash val="solid"/>
          </a:ln>
          <a:effectLst>
            <a:outerShdw sx="100000" sy="100000" kx="0" ky="0" algn="bl" rotWithShape="0" blurRad="152400" dist="50800" dir="16200000">
              <a:srgbClr val="E0262D">
                <a:alpha val="55000"/>
              </a:srgbClr>
            </a:outerShdw>
          </a:effectLst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86968" y="3968496"/>
            <a:ext cx="466344" cy="466344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645920" y="3886200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EBD9C6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01  LEARN THE SOUL</a:t>
            </a:r>
            <a:endParaRPr lang="en-US" sz="1700" dirty="0"/>
          </a:p>
        </p:txBody>
      </p:sp>
      <p:sp>
        <p:nvSpPr>
          <p:cNvPr id="8" name="Text 5"/>
          <p:cNvSpPr txBox="1"/>
          <p:nvPr/>
        </p:nvSpPr>
        <p:spPr>
          <a:xfrm>
            <a:off x="749808" y="4590288"/>
            <a:ext cx="361188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dirty="0">
                <a:solidFill>
                  <a:srgbClr val="EDE2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Per-agent baseline of tools, data classes, destinations, timing and who it delegates to.</a:t>
            </a:r>
            <a:endParaRPr lang="en-US" sz="1450" dirty="0"/>
          </a:p>
        </p:txBody>
      </p:sp>
      <p:sp>
        <p:nvSpPr>
          <p:cNvPr id="9" name="Shape 6"/>
          <p:cNvSpPr/>
          <p:nvPr/>
        </p:nvSpPr>
        <p:spPr>
          <a:xfrm rot="5400000">
            <a:off x="4581144" y="4370832"/>
            <a:ext cx="310896" cy="310896"/>
          </a:xfrm>
          <a:prstGeom prst="triangle">
            <a:avLst/>
          </a:prstGeom>
          <a:solidFill>
            <a:srgbClr val="E0262D"/>
          </a:solidFill>
          <a:ln w="12700">
            <a:solidFill>
              <a:srgbClr val="E0262D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4956048" y="3611880"/>
            <a:ext cx="3977640" cy="1828800"/>
          </a:xfrm>
          <a:prstGeom prst="roundRect">
            <a:avLst>
              <a:gd name="adj" fmla="val 6000"/>
            </a:avLst>
          </a:prstGeom>
          <a:solidFill>
            <a:srgbClr val="1C0A0C">
              <a:alpha val="88000"/>
            </a:srgbClr>
          </a:solidFill>
          <a:ln w="15875">
            <a:solidFill>
              <a:srgbClr val="6A1D22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5138928" y="3813048"/>
            <a:ext cx="777240" cy="777240"/>
          </a:xfrm>
          <a:prstGeom prst="ellipse">
            <a:avLst/>
          </a:prstGeom>
          <a:solidFill>
            <a:srgbClr val="2A0B0E"/>
          </a:solidFill>
          <a:ln w="25400">
            <a:solidFill>
              <a:srgbClr val="E0262D"/>
            </a:solidFill>
            <a:prstDash val="solid"/>
          </a:ln>
          <a:effectLst>
            <a:outerShdw sx="100000" sy="100000" kx="0" ky="0" algn="bl" rotWithShape="0" blurRad="152400" dist="50800" dir="16200000">
              <a:srgbClr val="E0262D">
                <a:alpha val="55000"/>
              </a:srgbClr>
            </a:outerShdw>
          </a:effectLst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94376" y="3968496"/>
            <a:ext cx="466344" cy="466344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6053328" y="3886200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EBD9C6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02  BIND TO ROLE</a:t>
            </a:r>
            <a:endParaRPr lang="en-US" sz="1700" dirty="0"/>
          </a:p>
        </p:txBody>
      </p:sp>
      <p:sp>
        <p:nvSpPr>
          <p:cNvPr id="14" name="Text 10"/>
          <p:cNvSpPr txBox="1"/>
          <p:nvPr/>
        </p:nvSpPr>
        <p:spPr>
          <a:xfrm>
            <a:off x="5157216" y="4590288"/>
            <a:ext cx="361188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dirty="0">
                <a:solidFill>
                  <a:srgbClr val="EDE2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Declared role compiled into a Role Contract: what it should, and must never, do.</a:t>
            </a:r>
            <a:endParaRPr lang="en-US" sz="1450" dirty="0"/>
          </a:p>
        </p:txBody>
      </p:sp>
      <p:sp>
        <p:nvSpPr>
          <p:cNvPr id="15" name="Shape 11"/>
          <p:cNvSpPr/>
          <p:nvPr/>
        </p:nvSpPr>
        <p:spPr>
          <a:xfrm rot="5400000">
            <a:off x="8988552" y="4370832"/>
            <a:ext cx="310896" cy="310896"/>
          </a:xfrm>
          <a:prstGeom prst="triangle">
            <a:avLst/>
          </a:prstGeom>
          <a:solidFill>
            <a:srgbClr val="E0262D"/>
          </a:solidFill>
          <a:ln w="12700">
            <a:solidFill>
              <a:srgbClr val="E0262D"/>
            </a:solidFill>
            <a:prstDash val="solid"/>
          </a:ln>
        </p:spPr>
      </p:sp>
      <p:sp>
        <p:nvSpPr>
          <p:cNvPr id="16" name="Shape 12"/>
          <p:cNvSpPr/>
          <p:nvPr/>
        </p:nvSpPr>
        <p:spPr>
          <a:xfrm>
            <a:off x="9363456" y="3611880"/>
            <a:ext cx="3977640" cy="1828800"/>
          </a:xfrm>
          <a:prstGeom prst="roundRect">
            <a:avLst>
              <a:gd name="adj" fmla="val 6000"/>
            </a:avLst>
          </a:prstGeom>
          <a:solidFill>
            <a:srgbClr val="1C0A0C">
              <a:alpha val="88000"/>
            </a:srgbClr>
          </a:solidFill>
          <a:ln w="15875">
            <a:solidFill>
              <a:srgbClr val="6A1D22"/>
            </a:solidFill>
            <a:prstDash val="solid"/>
          </a:ln>
        </p:spPr>
      </p:sp>
      <p:sp>
        <p:nvSpPr>
          <p:cNvPr id="17" name="Shape 13"/>
          <p:cNvSpPr/>
          <p:nvPr/>
        </p:nvSpPr>
        <p:spPr>
          <a:xfrm>
            <a:off x="9546336" y="3813048"/>
            <a:ext cx="777240" cy="777240"/>
          </a:xfrm>
          <a:prstGeom prst="ellipse">
            <a:avLst/>
          </a:prstGeom>
          <a:solidFill>
            <a:srgbClr val="2A0B0E"/>
          </a:solidFill>
          <a:ln w="25400">
            <a:solidFill>
              <a:srgbClr val="E0262D"/>
            </a:solidFill>
            <a:prstDash val="solid"/>
          </a:ln>
          <a:effectLst>
            <a:outerShdw sx="100000" sy="100000" kx="0" ky="0" algn="bl" rotWithShape="0" blurRad="152400" dist="50800" dir="16200000">
              <a:srgbClr val="E0262D">
                <a:alpha val="55000"/>
              </a:srgbClr>
            </a:outerShdw>
          </a:effectLst>
        </p:spPr>
      </p:sp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701784" y="3968496"/>
            <a:ext cx="466344" cy="466344"/>
          </a:xfrm>
          <a:prstGeom prst="rect">
            <a:avLst/>
          </a:prstGeom>
        </p:spPr>
      </p:pic>
      <p:sp>
        <p:nvSpPr>
          <p:cNvPr id="19" name="Text 14"/>
          <p:cNvSpPr txBox="1"/>
          <p:nvPr/>
        </p:nvSpPr>
        <p:spPr>
          <a:xfrm>
            <a:off x="10460736" y="3886200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EBD9C6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03  UNMASK WITH TWIN</a:t>
            </a:r>
            <a:endParaRPr lang="en-US" sz="1700" dirty="0"/>
          </a:p>
        </p:txBody>
      </p:sp>
      <p:sp>
        <p:nvSpPr>
          <p:cNvPr id="20" name="Text 15"/>
          <p:cNvSpPr txBox="1"/>
          <p:nvPr/>
        </p:nvSpPr>
        <p:spPr>
          <a:xfrm>
            <a:off x="9564624" y="4590288"/>
            <a:ext cx="361188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dirty="0">
                <a:solidFill>
                  <a:srgbClr val="EDE2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sandboxed Doppelgänger replays the task minus the untrusted input. Only the live agent goes rogue? Possession proven.</a:t>
            </a:r>
            <a:endParaRPr lang="en-US" sz="1450" dirty="0"/>
          </a:p>
        </p:txBody>
      </p:sp>
      <p:sp>
        <p:nvSpPr>
          <p:cNvPr id="21" name="Shape 16"/>
          <p:cNvSpPr/>
          <p:nvPr/>
        </p:nvSpPr>
        <p:spPr>
          <a:xfrm rot="5400000">
            <a:off x="13395960" y="4370832"/>
            <a:ext cx="310896" cy="310896"/>
          </a:xfrm>
          <a:prstGeom prst="triangle">
            <a:avLst/>
          </a:prstGeom>
          <a:solidFill>
            <a:srgbClr val="E0262D"/>
          </a:solidFill>
          <a:ln w="12700">
            <a:solidFill>
              <a:srgbClr val="E0262D"/>
            </a:solidFill>
            <a:prstDash val="solid"/>
          </a:ln>
        </p:spPr>
      </p:sp>
      <p:sp>
        <p:nvSpPr>
          <p:cNvPr id="22" name="Shape 17"/>
          <p:cNvSpPr/>
          <p:nvPr/>
        </p:nvSpPr>
        <p:spPr>
          <a:xfrm>
            <a:off x="13770864" y="3611880"/>
            <a:ext cx="3977640" cy="1828800"/>
          </a:xfrm>
          <a:prstGeom prst="roundRect">
            <a:avLst>
              <a:gd name="adj" fmla="val 6000"/>
            </a:avLst>
          </a:prstGeom>
          <a:solidFill>
            <a:srgbClr val="1C0A0C">
              <a:alpha val="88000"/>
            </a:srgbClr>
          </a:solidFill>
          <a:ln w="15875">
            <a:solidFill>
              <a:srgbClr val="6A1D22"/>
            </a:solidFill>
            <a:prstDash val="solid"/>
          </a:ln>
        </p:spPr>
      </p:sp>
      <p:sp>
        <p:nvSpPr>
          <p:cNvPr id="23" name="Shape 18"/>
          <p:cNvSpPr/>
          <p:nvPr/>
        </p:nvSpPr>
        <p:spPr>
          <a:xfrm>
            <a:off x="13953744" y="3813048"/>
            <a:ext cx="777240" cy="777240"/>
          </a:xfrm>
          <a:prstGeom prst="ellipse">
            <a:avLst/>
          </a:prstGeom>
          <a:solidFill>
            <a:srgbClr val="2A0B0E"/>
          </a:solidFill>
          <a:ln w="25400">
            <a:solidFill>
              <a:srgbClr val="E0262D"/>
            </a:solidFill>
            <a:prstDash val="solid"/>
          </a:ln>
          <a:effectLst>
            <a:outerShdw sx="100000" sy="100000" kx="0" ky="0" algn="bl" rotWithShape="0" blurRad="152400" dist="50800" dir="16200000">
              <a:srgbClr val="E0262D">
                <a:alpha val="55000"/>
              </a:srgbClr>
            </a:outerShdw>
          </a:effectLst>
        </p:spPr>
      </p:sp>
      <p:pic>
        <p:nvPicPr>
          <p:cNvPr id="24" name="Image 3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4109192" y="3968496"/>
            <a:ext cx="466344" cy="466344"/>
          </a:xfrm>
          <a:prstGeom prst="rect">
            <a:avLst/>
          </a:prstGeom>
        </p:spPr>
      </p:pic>
      <p:sp>
        <p:nvSpPr>
          <p:cNvPr id="25" name="Text 19"/>
          <p:cNvSpPr txBox="1"/>
          <p:nvPr/>
        </p:nvSpPr>
        <p:spPr>
          <a:xfrm>
            <a:off x="14868144" y="3886200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EBD9C6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04  EXPLAIN &amp; EXORCISE</a:t>
            </a:r>
            <a:endParaRPr lang="en-US" sz="1700" dirty="0"/>
          </a:p>
        </p:txBody>
      </p:sp>
      <p:sp>
        <p:nvSpPr>
          <p:cNvPr id="26" name="Text 20"/>
          <p:cNvSpPr txBox="1"/>
          <p:nvPr/>
        </p:nvSpPr>
        <p:spPr>
          <a:xfrm>
            <a:off x="13972032" y="4590288"/>
            <a:ext cx="361188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dirty="0">
                <a:solidFill>
                  <a:srgbClr val="EDE2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Risk 0–100 with plain reasons, then graduated containment instead of a kill switch.</a:t>
            </a:r>
            <a:endParaRPr lang="en-US" sz="1450" dirty="0"/>
          </a:p>
        </p:txBody>
      </p:sp>
      <p:sp>
        <p:nvSpPr>
          <p:cNvPr id="27" name="Text 21"/>
          <p:cNvSpPr txBox="1"/>
          <p:nvPr/>
        </p:nvSpPr>
        <p:spPr>
          <a:xfrm>
            <a:off x="548640" y="5623560"/>
            <a:ext cx="11430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E0262D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LIVE CATCH  ·  THE POSSESSED PROCUREMENT AGENT</a:t>
            </a:r>
            <a:endParaRPr lang="en-US" sz="1900" dirty="0"/>
          </a:p>
        </p:txBody>
      </p:sp>
      <p:sp>
        <p:nvSpPr>
          <p:cNvPr id="28" name="Shape 22"/>
          <p:cNvSpPr/>
          <p:nvPr/>
        </p:nvSpPr>
        <p:spPr>
          <a:xfrm>
            <a:off x="795528" y="6355080"/>
            <a:ext cx="0" cy="2788920"/>
          </a:xfrm>
          <a:prstGeom prst="line">
            <a:avLst/>
          </a:prstGeom>
          <a:noFill/>
          <a:ln w="25400">
            <a:solidFill>
              <a:srgbClr val="6A1D22"/>
            </a:solidFill>
            <a:prstDash val="solid"/>
          </a:ln>
        </p:spPr>
      </p:sp>
      <p:sp>
        <p:nvSpPr>
          <p:cNvPr id="29" name="Shape 23"/>
          <p:cNvSpPr/>
          <p:nvPr/>
        </p:nvSpPr>
        <p:spPr>
          <a:xfrm>
            <a:off x="658368" y="6272784"/>
            <a:ext cx="274320" cy="274320"/>
          </a:xfrm>
          <a:prstGeom prst="ellipse">
            <a:avLst/>
          </a:prstGeom>
          <a:solidFill>
            <a:srgbClr val="6FDC9B"/>
          </a:solidFill>
          <a:ln w="12700">
            <a:solidFill>
              <a:srgbClr val="6FDC9B"/>
            </a:solidFill>
            <a:prstDash val="solid"/>
          </a:ln>
          <a:effectLst>
            <a:outerShdw sx="100000" sy="100000" kx="0" ky="0" algn="bl" rotWithShape="0" blurRad="127000" dist="50800" dir="16200000">
              <a:srgbClr val="6FDC9B">
                <a:alpha val="70000"/>
              </a:srgbClr>
            </a:outerShdw>
          </a:effectLst>
        </p:spPr>
      </p:sp>
      <p:sp>
        <p:nvSpPr>
          <p:cNvPr id="30" name="Text 24"/>
          <p:cNvSpPr txBox="1"/>
          <p:nvPr/>
        </p:nvSpPr>
        <p:spPr>
          <a:xfrm>
            <a:off x="1143000" y="6199632"/>
            <a:ext cx="3657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EBD9C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Normal</a:t>
            </a:r>
            <a:endParaRPr lang="en-US" sz="1600" dirty="0"/>
          </a:p>
        </p:txBody>
      </p:sp>
      <p:sp>
        <p:nvSpPr>
          <p:cNvPr id="31" name="Text 25"/>
          <p:cNvSpPr txBox="1"/>
          <p:nvPr/>
        </p:nvSpPr>
        <p:spPr>
          <a:xfrm>
            <a:off x="4572000" y="6199632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6FDC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Risk 8</a:t>
            </a:r>
            <a:endParaRPr lang="en-US" sz="1500" dirty="0"/>
          </a:p>
        </p:txBody>
      </p:sp>
      <p:sp>
        <p:nvSpPr>
          <p:cNvPr id="32" name="Text 26"/>
          <p:cNvSpPr txBox="1"/>
          <p:nvPr/>
        </p:nvSpPr>
        <p:spPr>
          <a:xfrm>
            <a:off x="1143000" y="6528816"/>
            <a:ext cx="44805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BFA99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Checks supplier prices, raises purchase requests</a:t>
            </a:r>
            <a:endParaRPr lang="en-US" sz="1350" dirty="0"/>
          </a:p>
        </p:txBody>
      </p:sp>
      <p:sp>
        <p:nvSpPr>
          <p:cNvPr id="33" name="Shape 27"/>
          <p:cNvSpPr/>
          <p:nvPr/>
        </p:nvSpPr>
        <p:spPr>
          <a:xfrm>
            <a:off x="658368" y="7050024"/>
            <a:ext cx="274320" cy="274320"/>
          </a:xfrm>
          <a:prstGeom prst="ellipse">
            <a:avLst/>
          </a:prstGeom>
          <a:solidFill>
            <a:srgbClr val="FFC061"/>
          </a:solidFill>
          <a:ln w="12700">
            <a:solidFill>
              <a:srgbClr val="FFC061"/>
            </a:solidFill>
            <a:prstDash val="solid"/>
          </a:ln>
          <a:effectLst>
            <a:outerShdw sx="100000" sy="100000" kx="0" ky="0" algn="bl" rotWithShape="0" blurRad="127000" dist="50800" dir="16200000">
              <a:srgbClr val="FFC061">
                <a:alpha val="70000"/>
              </a:srgbClr>
            </a:outerShdw>
          </a:effectLst>
        </p:spPr>
      </p:sp>
      <p:sp>
        <p:nvSpPr>
          <p:cNvPr id="34" name="Text 28"/>
          <p:cNvSpPr txBox="1"/>
          <p:nvPr/>
        </p:nvSpPr>
        <p:spPr>
          <a:xfrm>
            <a:off x="1143000" y="6976872"/>
            <a:ext cx="3657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EBD9C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Reads poisoned PDF</a:t>
            </a:r>
            <a:endParaRPr lang="en-US" sz="1600" dirty="0"/>
          </a:p>
        </p:txBody>
      </p:sp>
      <p:sp>
        <p:nvSpPr>
          <p:cNvPr id="35" name="Text 29"/>
          <p:cNvSpPr txBox="1"/>
          <p:nvPr/>
        </p:nvSpPr>
        <p:spPr>
          <a:xfrm>
            <a:off x="4572000" y="6976872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FFC0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Risk 31</a:t>
            </a:r>
            <a:endParaRPr lang="en-US" sz="1500" dirty="0"/>
          </a:p>
        </p:txBody>
      </p:sp>
      <p:sp>
        <p:nvSpPr>
          <p:cNvPr id="36" name="Text 30"/>
          <p:cNvSpPr txBox="1"/>
          <p:nvPr/>
        </p:nvSpPr>
        <p:spPr>
          <a:xfrm>
            <a:off x="1143000" y="7306056"/>
            <a:ext cx="44805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BFA99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Hidden instruction inside a supplier quote (tainted input)</a:t>
            </a:r>
            <a:endParaRPr lang="en-US" sz="1350" dirty="0"/>
          </a:p>
        </p:txBody>
      </p:sp>
      <p:sp>
        <p:nvSpPr>
          <p:cNvPr id="37" name="Shape 31"/>
          <p:cNvSpPr/>
          <p:nvPr/>
        </p:nvSpPr>
        <p:spPr>
          <a:xfrm>
            <a:off x="658368" y="7827264"/>
            <a:ext cx="274320" cy="274320"/>
          </a:xfrm>
          <a:prstGeom prst="ellipse">
            <a:avLst/>
          </a:prstGeom>
          <a:solidFill>
            <a:srgbClr val="FF8A3D"/>
          </a:solidFill>
          <a:ln w="12700">
            <a:solidFill>
              <a:srgbClr val="FF8A3D"/>
            </a:solidFill>
            <a:prstDash val="solid"/>
          </a:ln>
          <a:effectLst>
            <a:outerShdw sx="100000" sy="100000" kx="0" ky="0" algn="bl" rotWithShape="0" blurRad="127000" dist="50800" dir="16200000">
              <a:srgbClr val="FF8A3D">
                <a:alpha val="70000"/>
              </a:srgbClr>
            </a:outerShdw>
          </a:effectLst>
        </p:spPr>
      </p:sp>
      <p:sp>
        <p:nvSpPr>
          <p:cNvPr id="38" name="Text 32"/>
          <p:cNvSpPr txBox="1"/>
          <p:nvPr/>
        </p:nvSpPr>
        <p:spPr>
          <a:xfrm>
            <a:off x="1143000" y="7754112"/>
            <a:ext cx="3657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EBD9C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Opens HR salary files</a:t>
            </a:r>
            <a:endParaRPr lang="en-US" sz="1600" dirty="0"/>
          </a:p>
        </p:txBody>
      </p:sp>
      <p:sp>
        <p:nvSpPr>
          <p:cNvPr id="39" name="Text 33"/>
          <p:cNvSpPr txBox="1"/>
          <p:nvPr/>
        </p:nvSpPr>
        <p:spPr>
          <a:xfrm>
            <a:off x="4572000" y="7754112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Risk 74</a:t>
            </a:r>
            <a:endParaRPr lang="en-US" sz="1500" dirty="0"/>
          </a:p>
        </p:txBody>
      </p:sp>
      <p:sp>
        <p:nvSpPr>
          <p:cNvPr id="40" name="Text 34"/>
          <p:cNvSpPr txBox="1"/>
          <p:nvPr/>
        </p:nvSpPr>
        <p:spPr>
          <a:xfrm>
            <a:off x="1143000" y="8083296"/>
            <a:ext cx="44805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BFA99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Off-role data + touches a planted D3COY bait file</a:t>
            </a:r>
            <a:endParaRPr lang="en-US" sz="1350" dirty="0"/>
          </a:p>
        </p:txBody>
      </p:sp>
      <p:sp>
        <p:nvSpPr>
          <p:cNvPr id="41" name="Shape 35"/>
          <p:cNvSpPr/>
          <p:nvPr/>
        </p:nvSpPr>
        <p:spPr>
          <a:xfrm>
            <a:off x="658368" y="8604504"/>
            <a:ext cx="274320" cy="274320"/>
          </a:xfrm>
          <a:prstGeom prst="ellipse">
            <a:avLst/>
          </a:prstGeom>
          <a:solidFill>
            <a:srgbClr val="E0262D"/>
          </a:solidFill>
          <a:ln w="12700">
            <a:solidFill>
              <a:srgbClr val="E0262D"/>
            </a:solidFill>
            <a:prstDash val="solid"/>
          </a:ln>
          <a:effectLst>
            <a:outerShdw sx="100000" sy="100000" kx="0" ky="0" algn="bl" rotWithShape="0" blurRad="127000" dist="50800" dir="16200000">
              <a:srgbClr val="E0262D">
                <a:alpha val="70000"/>
              </a:srgbClr>
            </a:outerShdw>
          </a:effectLst>
        </p:spPr>
      </p:sp>
      <p:sp>
        <p:nvSpPr>
          <p:cNvPr id="42" name="Text 36"/>
          <p:cNvSpPr txBox="1"/>
          <p:nvPr/>
        </p:nvSpPr>
        <p:spPr>
          <a:xfrm>
            <a:off x="1143000" y="8531352"/>
            <a:ext cx="3657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EBD9C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POSTs to unknown server</a:t>
            </a:r>
            <a:endParaRPr lang="en-US" sz="1600" dirty="0"/>
          </a:p>
        </p:txBody>
      </p:sp>
      <p:sp>
        <p:nvSpPr>
          <p:cNvPr id="43" name="Text 37"/>
          <p:cNvSpPr txBox="1"/>
          <p:nvPr/>
        </p:nvSpPr>
        <p:spPr>
          <a:xfrm>
            <a:off x="4572000" y="8531352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E026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Risk 92</a:t>
            </a:r>
            <a:endParaRPr lang="en-US" sz="1500" dirty="0"/>
          </a:p>
        </p:txBody>
      </p:sp>
      <p:sp>
        <p:nvSpPr>
          <p:cNvPr id="44" name="Text 38"/>
          <p:cNvSpPr txBox="1"/>
          <p:nvPr/>
        </p:nvSpPr>
        <p:spPr>
          <a:xfrm>
            <a:off x="1143000" y="8860536"/>
            <a:ext cx="44805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BFA99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Twin without the PDF never does this: proven</a:t>
            </a:r>
            <a:endParaRPr lang="en-US" sz="1350" dirty="0"/>
          </a:p>
        </p:txBody>
      </p:sp>
      <p:sp>
        <p:nvSpPr>
          <p:cNvPr id="45" name="Shape 39"/>
          <p:cNvSpPr/>
          <p:nvPr/>
        </p:nvSpPr>
        <p:spPr>
          <a:xfrm>
            <a:off x="5897880" y="6126480"/>
            <a:ext cx="6035040" cy="3520440"/>
          </a:xfrm>
          <a:prstGeom prst="roundRect">
            <a:avLst>
              <a:gd name="adj" fmla="val 3117"/>
            </a:avLst>
          </a:prstGeom>
          <a:solidFill>
            <a:srgbClr val="0E0506">
              <a:alpha val="85000"/>
            </a:srgbClr>
          </a:solidFill>
          <a:ln w="15875">
            <a:solidFill>
              <a:srgbClr val="6A1D22"/>
            </a:solidFill>
            <a:prstDash val="solid"/>
          </a:ln>
        </p:spPr>
      </p:sp>
      <p:graphicFrame>
        <p:nvGraphicFramePr>
          <p:cNvPr id="46" name="Chart 0" descr=""/>
          <p:cNvGraphicFramePr/>
          <p:nvPr/>
        </p:nvGraphicFramePr>
        <p:xfrm>
          <a:off x="5989320" y="6172200"/>
          <a:ext cx="5852160" cy="28346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6"/>
          </a:graphicData>
        </a:graphic>
      </p:graphicFrame>
      <p:sp>
        <p:nvSpPr>
          <p:cNvPr id="47" name="Text 40"/>
          <p:cNvSpPr txBox="1"/>
          <p:nvPr/>
        </p:nvSpPr>
        <p:spPr>
          <a:xfrm>
            <a:off x="6035040" y="9070848"/>
            <a:ext cx="5806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BFA99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Token valid ✓  IAM passed ✓  </a:t>
            </a:r>
            <a:pPr algn="ctr" indent="0" marL="0">
              <a:buNone/>
            </a:pPr>
            <a:r>
              <a:rPr lang="en-US" sz="1400" b="1" dirty="0">
                <a:solidFill>
                  <a:srgbClr val="E026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Twin proved the PDF · quarantined in seconds</a:t>
            </a:r>
            <a:endParaRPr lang="en-US" sz="1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74320" y="2395728"/>
            <a:ext cx="17739360" cy="7406640"/>
          </a:xfrm>
          <a:prstGeom prst="roundRect">
            <a:avLst>
              <a:gd name="adj" fmla="val 1235"/>
            </a:avLst>
          </a:prstGeom>
          <a:solidFill>
            <a:srgbClr val="0A0405">
              <a:alpha val="68000"/>
            </a:srgbClr>
          </a:solidFill>
          <a:ln w="12700">
            <a:solidFill>
              <a:srgbClr val="0A0405">
                <a:alpha val="0"/>
              </a:srgbClr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02920" y="2487168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spc="100" kern="0" dirty="0">
                <a:solidFill>
                  <a:srgbClr val="E0262D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AGENT WORLD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502920" y="2926080"/>
            <a:ext cx="2743200" cy="914400"/>
          </a:xfrm>
          <a:prstGeom prst="roundRect">
            <a:avLst>
              <a:gd name="adj" fmla="val 12000"/>
            </a:avLst>
          </a:prstGeom>
          <a:solidFill>
            <a:srgbClr val="1C0A0C">
              <a:alpha val="88000"/>
            </a:srgbClr>
          </a:solidFill>
          <a:ln w="15875">
            <a:solidFill>
              <a:srgbClr val="6A1D22"/>
            </a:solidFill>
            <a:prstDash val="solid"/>
          </a:ln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3127248"/>
            <a:ext cx="512064" cy="512064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261872" y="3072384"/>
            <a:ext cx="1920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EBD9C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agents</a:t>
            </a:r>
            <a:endParaRPr lang="en-US" sz="1500" dirty="0"/>
          </a:p>
        </p:txBody>
      </p:sp>
      <p:sp>
        <p:nvSpPr>
          <p:cNvPr id="7" name="Text 4"/>
          <p:cNvSpPr txBox="1"/>
          <p:nvPr/>
        </p:nvSpPr>
        <p:spPr>
          <a:xfrm>
            <a:off x="1261872" y="3401568"/>
            <a:ext cx="1920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BFA99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LangChain · CrewAI · AutoGen</a:t>
            </a:r>
            <a:endParaRPr lang="en-US" sz="1250" dirty="0"/>
          </a:p>
        </p:txBody>
      </p:sp>
      <p:sp>
        <p:nvSpPr>
          <p:cNvPr id="8" name="Shape 5"/>
          <p:cNvSpPr/>
          <p:nvPr/>
        </p:nvSpPr>
        <p:spPr>
          <a:xfrm>
            <a:off x="502920" y="3959352"/>
            <a:ext cx="2743200" cy="914400"/>
          </a:xfrm>
          <a:prstGeom prst="roundRect">
            <a:avLst>
              <a:gd name="adj" fmla="val 12000"/>
            </a:avLst>
          </a:prstGeom>
          <a:solidFill>
            <a:srgbClr val="1C0A0C">
              <a:alpha val="88000"/>
            </a:srgbClr>
          </a:solidFill>
          <a:ln w="15875">
            <a:solidFill>
              <a:srgbClr val="6A1D22"/>
            </a:solidFill>
            <a:prstDash val="solid"/>
          </a:ln>
        </p:spPr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4160520"/>
            <a:ext cx="512064" cy="512064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1261872" y="4105656"/>
            <a:ext cx="1920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EBD9C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Tools &amp; APIs</a:t>
            </a:r>
            <a:endParaRPr lang="en-US" sz="1500" dirty="0"/>
          </a:p>
        </p:txBody>
      </p:sp>
      <p:sp>
        <p:nvSpPr>
          <p:cNvPr id="11" name="Text 7"/>
          <p:cNvSpPr txBox="1"/>
          <p:nvPr/>
        </p:nvSpPr>
        <p:spPr>
          <a:xfrm>
            <a:off x="1261872" y="4434840"/>
            <a:ext cx="1920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BFA99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MCP servers · SaaS APIs</a:t>
            </a:r>
            <a:endParaRPr lang="en-US" sz="1250" dirty="0"/>
          </a:p>
        </p:txBody>
      </p:sp>
      <p:sp>
        <p:nvSpPr>
          <p:cNvPr id="12" name="Shape 8"/>
          <p:cNvSpPr/>
          <p:nvPr/>
        </p:nvSpPr>
        <p:spPr>
          <a:xfrm>
            <a:off x="502920" y="4992624"/>
            <a:ext cx="2743200" cy="914400"/>
          </a:xfrm>
          <a:prstGeom prst="roundRect">
            <a:avLst>
              <a:gd name="adj" fmla="val 12000"/>
            </a:avLst>
          </a:prstGeom>
          <a:solidFill>
            <a:srgbClr val="1C0A0C">
              <a:alpha val="88000"/>
            </a:srgbClr>
          </a:solidFill>
          <a:ln w="15875">
            <a:solidFill>
              <a:srgbClr val="6A1D22"/>
            </a:solidFill>
            <a:prstDash val="solid"/>
          </a:ln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080" y="5193792"/>
            <a:ext cx="512064" cy="512064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1261872" y="5138928"/>
            <a:ext cx="1920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EBD9C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Untrusted content</a:t>
            </a:r>
            <a:endParaRPr lang="en-US" sz="1500" dirty="0"/>
          </a:p>
        </p:txBody>
      </p:sp>
      <p:sp>
        <p:nvSpPr>
          <p:cNvPr id="15" name="Text 10"/>
          <p:cNvSpPr txBox="1"/>
          <p:nvPr/>
        </p:nvSpPr>
        <p:spPr>
          <a:xfrm>
            <a:off x="1261872" y="5468112"/>
            <a:ext cx="1920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BFA99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PDFs · email · web pages</a:t>
            </a:r>
            <a:endParaRPr lang="en-US" sz="1250" dirty="0"/>
          </a:p>
        </p:txBody>
      </p:sp>
      <p:sp>
        <p:nvSpPr>
          <p:cNvPr id="16" name="Shape 11"/>
          <p:cNvSpPr/>
          <p:nvPr/>
        </p:nvSpPr>
        <p:spPr>
          <a:xfrm>
            <a:off x="502920" y="6025896"/>
            <a:ext cx="2743200" cy="914400"/>
          </a:xfrm>
          <a:prstGeom prst="roundRect">
            <a:avLst>
              <a:gd name="adj" fmla="val 12000"/>
            </a:avLst>
          </a:prstGeom>
          <a:solidFill>
            <a:srgbClr val="1C0A0C">
              <a:alpha val="88000"/>
            </a:srgbClr>
          </a:solidFill>
          <a:ln w="15875">
            <a:solidFill>
              <a:srgbClr val="6A1D22"/>
            </a:solidFill>
            <a:prstDash val="solid"/>
          </a:ln>
        </p:spPr>
      </p:sp>
      <p:pic>
        <p:nvPicPr>
          <p:cNvPr id="17" name="Image 3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0080" y="6227064"/>
            <a:ext cx="512064" cy="512064"/>
          </a:xfrm>
          <a:prstGeom prst="rect">
            <a:avLst/>
          </a:prstGeom>
        </p:spPr>
      </p:pic>
      <p:sp>
        <p:nvSpPr>
          <p:cNvPr id="18" name="Text 12"/>
          <p:cNvSpPr txBox="1"/>
          <p:nvPr/>
        </p:nvSpPr>
        <p:spPr>
          <a:xfrm>
            <a:off x="1261872" y="6172200"/>
            <a:ext cx="1920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EBD9C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 → agent calls</a:t>
            </a:r>
            <a:endParaRPr lang="en-US" sz="1500" dirty="0"/>
          </a:p>
        </p:txBody>
      </p:sp>
      <p:sp>
        <p:nvSpPr>
          <p:cNvPr id="19" name="Text 13"/>
          <p:cNvSpPr txBox="1"/>
          <p:nvPr/>
        </p:nvSpPr>
        <p:spPr>
          <a:xfrm>
            <a:off x="1261872" y="6501384"/>
            <a:ext cx="1920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BFA99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delegation chains</a:t>
            </a:r>
            <a:endParaRPr lang="en-US" sz="1250" dirty="0"/>
          </a:p>
        </p:txBody>
      </p:sp>
      <p:sp>
        <p:nvSpPr>
          <p:cNvPr id="20" name="Shape 14"/>
          <p:cNvSpPr/>
          <p:nvPr/>
        </p:nvSpPr>
        <p:spPr>
          <a:xfrm rot="5400000">
            <a:off x="3319272" y="4777740"/>
            <a:ext cx="329184" cy="329184"/>
          </a:xfrm>
          <a:prstGeom prst="triangle">
            <a:avLst/>
          </a:prstGeom>
          <a:solidFill>
            <a:srgbClr val="E0262D"/>
          </a:solidFill>
          <a:ln w="12700">
            <a:solidFill>
              <a:srgbClr val="E0262D"/>
            </a:solidFill>
            <a:prstDash val="solid"/>
          </a:ln>
        </p:spPr>
      </p:sp>
      <p:sp>
        <p:nvSpPr>
          <p:cNvPr id="21" name="Text 15"/>
          <p:cNvSpPr txBox="1"/>
          <p:nvPr/>
        </p:nvSpPr>
        <p:spPr>
          <a:xfrm>
            <a:off x="3749040" y="2487168"/>
            <a:ext cx="2834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spc="100" kern="0" dirty="0">
                <a:solidFill>
                  <a:srgbClr val="E0262D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TELEMETRY GATEWAY</a:t>
            </a:r>
            <a:endParaRPr lang="en-US" sz="1500" dirty="0"/>
          </a:p>
        </p:txBody>
      </p:sp>
      <p:sp>
        <p:nvSpPr>
          <p:cNvPr id="22" name="Shape 16"/>
          <p:cNvSpPr/>
          <p:nvPr/>
        </p:nvSpPr>
        <p:spPr>
          <a:xfrm>
            <a:off x="3749040" y="2926080"/>
            <a:ext cx="2834640" cy="4069080"/>
          </a:xfrm>
          <a:prstGeom prst="roundRect">
            <a:avLst>
              <a:gd name="adj" fmla="val 3871"/>
            </a:avLst>
          </a:prstGeom>
          <a:solidFill>
            <a:srgbClr val="1C0A0C">
              <a:alpha val="88000"/>
            </a:srgbClr>
          </a:solidFill>
          <a:ln w="19050">
            <a:solidFill>
              <a:srgbClr val="E0262D"/>
            </a:solidFill>
            <a:prstDash val="solid"/>
          </a:ln>
        </p:spPr>
      </p:sp>
      <p:sp>
        <p:nvSpPr>
          <p:cNvPr id="23" name="Shape 17"/>
          <p:cNvSpPr/>
          <p:nvPr/>
        </p:nvSpPr>
        <p:spPr>
          <a:xfrm>
            <a:off x="4754880" y="3108960"/>
            <a:ext cx="822960" cy="822960"/>
          </a:xfrm>
          <a:prstGeom prst="ellipse">
            <a:avLst/>
          </a:prstGeom>
          <a:solidFill>
            <a:srgbClr val="2A0B0E"/>
          </a:solidFill>
          <a:ln w="25400">
            <a:solidFill>
              <a:srgbClr val="E0262D"/>
            </a:solidFill>
            <a:prstDash val="solid"/>
          </a:ln>
          <a:effectLst>
            <a:outerShdw sx="100000" sy="100000" kx="0" ky="0" algn="bl" rotWithShape="0" blurRad="152400" dist="50800" dir="16200000">
              <a:srgbClr val="E0262D">
                <a:alpha val="55000"/>
              </a:srgbClr>
            </a:outerShdw>
          </a:effectLst>
        </p:spPr>
      </p:sp>
      <p:pic>
        <p:nvPicPr>
          <p:cNvPr id="24" name="Image 4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919472" y="3273552"/>
            <a:ext cx="493776" cy="493776"/>
          </a:xfrm>
          <a:prstGeom prst="rect">
            <a:avLst/>
          </a:prstGeom>
        </p:spPr>
      </p:pic>
      <p:sp>
        <p:nvSpPr>
          <p:cNvPr id="25" name="Text 18"/>
          <p:cNvSpPr txBox="1"/>
          <p:nvPr/>
        </p:nvSpPr>
        <p:spPr>
          <a:xfrm>
            <a:off x="3886200" y="4023360"/>
            <a:ext cx="2560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EBD9C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MCP proxy + OpenTelemetry sidecar</a:t>
            </a:r>
            <a:endParaRPr lang="en-US" sz="1500" dirty="0"/>
          </a:p>
        </p:txBody>
      </p:sp>
      <p:sp>
        <p:nvSpPr>
          <p:cNvPr id="26" name="Text 19"/>
          <p:cNvSpPr txBox="1"/>
          <p:nvPr/>
        </p:nvSpPr>
        <p:spPr>
          <a:xfrm>
            <a:off x="3886200" y="4572000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6FDC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Zero code change in agents</a:t>
            </a:r>
            <a:endParaRPr lang="en-US" sz="1300" dirty="0"/>
          </a:p>
        </p:txBody>
      </p:sp>
      <p:sp>
        <p:nvSpPr>
          <p:cNvPr id="27" name="Text 20"/>
          <p:cNvSpPr txBox="1"/>
          <p:nvPr/>
        </p:nvSpPr>
        <p:spPr>
          <a:xfrm>
            <a:off x="3840480" y="4864608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C0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plants role-shaped D3COY baits</a:t>
            </a:r>
            <a:endParaRPr lang="en-US" sz="1300" dirty="0"/>
          </a:p>
        </p:txBody>
      </p:sp>
      <p:sp>
        <p:nvSpPr>
          <p:cNvPr id="28" name="Text 21"/>
          <p:cNvSpPr txBox="1"/>
          <p:nvPr/>
        </p:nvSpPr>
        <p:spPr>
          <a:xfrm>
            <a:off x="3931920" y="5303520"/>
            <a:ext cx="24688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BFA99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Event per action:</a:t>
            </a:r>
            <a:endParaRPr lang="en-US" sz="1200" dirty="0"/>
          </a:p>
          <a:p>
            <a:pPr algn="ctr"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BFA99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agent_id · role · tool</a:t>
            </a:r>
            <a:endParaRPr lang="en-US" sz="1200" dirty="0"/>
          </a:p>
          <a:p>
            <a:pPr algn="ctr"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BFA99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resource · data_class</a:t>
            </a:r>
            <a:endParaRPr lang="en-US" sz="1200" dirty="0"/>
          </a:p>
          <a:p>
            <a:pPr algn="ctr"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BFA99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dest_host · parent</a:t>
            </a:r>
            <a:endParaRPr lang="en-US" sz="1200" dirty="0"/>
          </a:p>
          <a:p>
            <a:pPr algn="ctr"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BFA99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provenance tag</a:t>
            </a:r>
            <a:endParaRPr lang="en-US" sz="1200" dirty="0"/>
          </a:p>
        </p:txBody>
      </p:sp>
      <p:sp>
        <p:nvSpPr>
          <p:cNvPr id="29" name="Shape 22"/>
          <p:cNvSpPr/>
          <p:nvPr/>
        </p:nvSpPr>
        <p:spPr>
          <a:xfrm rot="5400000">
            <a:off x="6656832" y="4777740"/>
            <a:ext cx="329184" cy="329184"/>
          </a:xfrm>
          <a:prstGeom prst="triangle">
            <a:avLst/>
          </a:prstGeom>
          <a:solidFill>
            <a:srgbClr val="E0262D"/>
          </a:solidFill>
          <a:ln w="12700">
            <a:solidFill>
              <a:srgbClr val="E0262D"/>
            </a:solidFill>
            <a:prstDash val="solid"/>
          </a:ln>
        </p:spPr>
      </p:sp>
      <p:sp>
        <p:nvSpPr>
          <p:cNvPr id="30" name="Text 23"/>
          <p:cNvSpPr txBox="1"/>
          <p:nvPr/>
        </p:nvSpPr>
        <p:spPr>
          <a:xfrm>
            <a:off x="7086600" y="2487168"/>
            <a:ext cx="3063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spc="100" kern="0" dirty="0">
                <a:solidFill>
                  <a:srgbClr val="E0262D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SOUL MODEL</a:t>
            </a:r>
            <a:endParaRPr lang="en-US" sz="1500" dirty="0"/>
          </a:p>
        </p:txBody>
      </p:sp>
      <p:sp>
        <p:nvSpPr>
          <p:cNvPr id="31" name="Shape 24"/>
          <p:cNvSpPr/>
          <p:nvPr/>
        </p:nvSpPr>
        <p:spPr>
          <a:xfrm>
            <a:off x="7086600" y="2926080"/>
            <a:ext cx="3063240" cy="1965960"/>
          </a:xfrm>
          <a:prstGeom prst="roundRect">
            <a:avLst>
              <a:gd name="adj" fmla="val 5581"/>
            </a:avLst>
          </a:prstGeom>
          <a:solidFill>
            <a:srgbClr val="1C0A0C">
              <a:alpha val="88000"/>
            </a:srgbClr>
          </a:solidFill>
          <a:ln w="15875">
            <a:solidFill>
              <a:srgbClr val="6A1D22"/>
            </a:solidFill>
            <a:prstDash val="solid"/>
          </a:ln>
        </p:spPr>
      </p:sp>
      <p:pic>
        <p:nvPicPr>
          <p:cNvPr id="32" name="Image 5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223760" y="3081528"/>
            <a:ext cx="457200" cy="457200"/>
          </a:xfrm>
          <a:prstGeom prst="rect">
            <a:avLst/>
          </a:prstGeom>
        </p:spPr>
      </p:pic>
      <p:sp>
        <p:nvSpPr>
          <p:cNvPr id="33" name="Text 25"/>
          <p:cNvSpPr txBox="1"/>
          <p:nvPr/>
        </p:nvSpPr>
        <p:spPr>
          <a:xfrm>
            <a:off x="7772400" y="3108960"/>
            <a:ext cx="2286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BD9C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Role Contract</a:t>
            </a:r>
            <a:endParaRPr lang="en-US" sz="1600" dirty="0"/>
          </a:p>
        </p:txBody>
      </p:sp>
      <p:sp>
        <p:nvSpPr>
          <p:cNvPr id="34" name="Text 26"/>
          <p:cNvSpPr txBox="1"/>
          <p:nvPr/>
        </p:nvSpPr>
        <p:spPr>
          <a:xfrm>
            <a:off x="7242048" y="3639312"/>
            <a:ext cx="27889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EDE2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Declared role → allowed tools, data classes, egress &amp; rate. LLM-compiled, enforced as OPA policy.</a:t>
            </a:r>
            <a:endParaRPr lang="en-US" sz="1350" dirty="0"/>
          </a:p>
        </p:txBody>
      </p:sp>
      <p:sp>
        <p:nvSpPr>
          <p:cNvPr id="35" name="Shape 27"/>
          <p:cNvSpPr/>
          <p:nvPr/>
        </p:nvSpPr>
        <p:spPr>
          <a:xfrm>
            <a:off x="7086600" y="5029200"/>
            <a:ext cx="3063240" cy="1965960"/>
          </a:xfrm>
          <a:prstGeom prst="roundRect">
            <a:avLst>
              <a:gd name="adj" fmla="val 5581"/>
            </a:avLst>
          </a:prstGeom>
          <a:solidFill>
            <a:srgbClr val="1C0A0C">
              <a:alpha val="88000"/>
            </a:srgbClr>
          </a:solidFill>
          <a:ln w="15875">
            <a:solidFill>
              <a:srgbClr val="6A1D22"/>
            </a:solidFill>
            <a:prstDash val="solid"/>
          </a:ln>
        </p:spPr>
      </p:sp>
      <p:pic>
        <p:nvPicPr>
          <p:cNvPr id="36" name="Image 6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223760" y="5184648"/>
            <a:ext cx="457200" cy="457200"/>
          </a:xfrm>
          <a:prstGeom prst="rect">
            <a:avLst/>
          </a:prstGeom>
        </p:spPr>
      </p:pic>
      <p:sp>
        <p:nvSpPr>
          <p:cNvPr id="37" name="Text 28"/>
          <p:cNvSpPr txBox="1"/>
          <p:nvPr/>
        </p:nvSpPr>
        <p:spPr>
          <a:xfrm>
            <a:off x="7772400" y="5212080"/>
            <a:ext cx="2286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BD9C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Behavior Fingerprint</a:t>
            </a:r>
            <a:endParaRPr lang="en-US" sz="1600" dirty="0"/>
          </a:p>
        </p:txBody>
      </p:sp>
      <p:sp>
        <p:nvSpPr>
          <p:cNvPr id="38" name="Text 29"/>
          <p:cNvSpPr txBox="1"/>
          <p:nvPr/>
        </p:nvSpPr>
        <p:spPr>
          <a:xfrm>
            <a:off x="7242048" y="5742432"/>
            <a:ext cx="27889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EDE2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Per-agent baseline. Cold start: role-cohort prior, Bayesian update with each action.</a:t>
            </a:r>
            <a:endParaRPr lang="en-US" sz="1350" dirty="0"/>
          </a:p>
        </p:txBody>
      </p:sp>
      <p:sp>
        <p:nvSpPr>
          <p:cNvPr id="39" name="Shape 30"/>
          <p:cNvSpPr/>
          <p:nvPr/>
        </p:nvSpPr>
        <p:spPr>
          <a:xfrm rot="5400000">
            <a:off x="10222992" y="4777740"/>
            <a:ext cx="329184" cy="329184"/>
          </a:xfrm>
          <a:prstGeom prst="triangle">
            <a:avLst/>
          </a:prstGeom>
          <a:solidFill>
            <a:srgbClr val="E0262D"/>
          </a:solidFill>
          <a:ln w="12700">
            <a:solidFill>
              <a:srgbClr val="E0262D"/>
            </a:solidFill>
            <a:prstDash val="solid"/>
          </a:ln>
        </p:spPr>
      </p:sp>
      <p:sp>
        <p:nvSpPr>
          <p:cNvPr id="40" name="Text 31"/>
          <p:cNvSpPr txBox="1"/>
          <p:nvPr/>
        </p:nvSpPr>
        <p:spPr>
          <a:xfrm>
            <a:off x="10652760" y="2487168"/>
            <a:ext cx="3429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spc="100" kern="0" dirty="0">
                <a:solidFill>
                  <a:srgbClr val="E0262D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5 DETECTORS</a:t>
            </a:r>
            <a:endParaRPr lang="en-US" sz="1500" dirty="0"/>
          </a:p>
        </p:txBody>
      </p:sp>
      <p:sp>
        <p:nvSpPr>
          <p:cNvPr id="41" name="Shape 32"/>
          <p:cNvSpPr/>
          <p:nvPr/>
        </p:nvSpPr>
        <p:spPr>
          <a:xfrm>
            <a:off x="10652760" y="2926080"/>
            <a:ext cx="3429000" cy="731520"/>
          </a:xfrm>
          <a:prstGeom prst="roundRect">
            <a:avLst>
              <a:gd name="adj" fmla="val 15000"/>
            </a:avLst>
          </a:prstGeom>
          <a:solidFill>
            <a:srgbClr val="1C0A0C">
              <a:alpha val="88000"/>
            </a:srgbClr>
          </a:solidFill>
          <a:ln w="15875">
            <a:solidFill>
              <a:srgbClr val="6A1D22"/>
            </a:solidFill>
            <a:prstDash val="solid"/>
          </a:ln>
        </p:spPr>
      </p:sp>
      <p:sp>
        <p:nvSpPr>
          <p:cNvPr id="42" name="Text 33"/>
          <p:cNvSpPr txBox="1"/>
          <p:nvPr/>
        </p:nvSpPr>
        <p:spPr>
          <a:xfrm>
            <a:off x="10744200" y="304495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E0262D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D1</a:t>
            </a:r>
            <a:endParaRPr lang="en-US" sz="1700" dirty="0"/>
          </a:p>
        </p:txBody>
      </p:sp>
      <p:sp>
        <p:nvSpPr>
          <p:cNvPr id="43" name="Text 34"/>
          <p:cNvSpPr txBox="1"/>
          <p:nvPr/>
        </p:nvSpPr>
        <p:spPr>
          <a:xfrm>
            <a:off x="11228832" y="2990088"/>
            <a:ext cx="278892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EBD9C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Role-Alignment Gap</a:t>
            </a:r>
            <a:endParaRPr lang="en-US" sz="1450" dirty="0"/>
          </a:p>
        </p:txBody>
      </p:sp>
      <p:sp>
        <p:nvSpPr>
          <p:cNvPr id="44" name="Text 35"/>
          <p:cNvSpPr txBox="1"/>
          <p:nvPr/>
        </p:nvSpPr>
        <p:spPr>
          <a:xfrm>
            <a:off x="11228832" y="3291840"/>
            <a:ext cx="278892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BFA99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embedding distance + contract violations</a:t>
            </a:r>
            <a:endParaRPr lang="en-US" sz="1150" dirty="0"/>
          </a:p>
        </p:txBody>
      </p:sp>
      <p:sp>
        <p:nvSpPr>
          <p:cNvPr id="45" name="Shape 36"/>
          <p:cNvSpPr/>
          <p:nvPr/>
        </p:nvSpPr>
        <p:spPr>
          <a:xfrm>
            <a:off x="10652760" y="3749040"/>
            <a:ext cx="3429000" cy="731520"/>
          </a:xfrm>
          <a:prstGeom prst="roundRect">
            <a:avLst>
              <a:gd name="adj" fmla="val 15000"/>
            </a:avLst>
          </a:prstGeom>
          <a:solidFill>
            <a:srgbClr val="1C0A0C">
              <a:alpha val="88000"/>
            </a:srgbClr>
          </a:solidFill>
          <a:ln w="15875">
            <a:solidFill>
              <a:srgbClr val="6A1D22"/>
            </a:solidFill>
            <a:prstDash val="solid"/>
          </a:ln>
        </p:spPr>
      </p:sp>
      <p:sp>
        <p:nvSpPr>
          <p:cNvPr id="46" name="Text 37"/>
          <p:cNvSpPr txBox="1"/>
          <p:nvPr/>
        </p:nvSpPr>
        <p:spPr>
          <a:xfrm>
            <a:off x="10744200" y="386791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E0262D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D2</a:t>
            </a:r>
            <a:endParaRPr lang="en-US" sz="1700" dirty="0"/>
          </a:p>
        </p:txBody>
      </p:sp>
      <p:sp>
        <p:nvSpPr>
          <p:cNvPr id="47" name="Text 38"/>
          <p:cNvSpPr txBox="1"/>
          <p:nvPr/>
        </p:nvSpPr>
        <p:spPr>
          <a:xfrm>
            <a:off x="11228832" y="3813048"/>
            <a:ext cx="278892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EBD9C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Sequence Surprise</a:t>
            </a:r>
            <a:endParaRPr lang="en-US" sz="1450" dirty="0"/>
          </a:p>
        </p:txBody>
      </p:sp>
      <p:sp>
        <p:nvSpPr>
          <p:cNvPr id="48" name="Text 39"/>
          <p:cNvSpPr txBox="1"/>
          <p:nvPr/>
        </p:nvSpPr>
        <p:spPr>
          <a:xfrm>
            <a:off x="11228832" y="4114800"/>
            <a:ext cx="278892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BFA99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rare next-action likelihood (Markov)</a:t>
            </a:r>
            <a:endParaRPr lang="en-US" sz="1150" dirty="0"/>
          </a:p>
        </p:txBody>
      </p:sp>
      <p:sp>
        <p:nvSpPr>
          <p:cNvPr id="49" name="Shape 40"/>
          <p:cNvSpPr/>
          <p:nvPr/>
        </p:nvSpPr>
        <p:spPr>
          <a:xfrm>
            <a:off x="10652760" y="4572000"/>
            <a:ext cx="3429000" cy="731520"/>
          </a:xfrm>
          <a:prstGeom prst="roundRect">
            <a:avLst>
              <a:gd name="adj" fmla="val 15000"/>
            </a:avLst>
          </a:prstGeom>
          <a:solidFill>
            <a:srgbClr val="1C0A0C">
              <a:alpha val="88000"/>
            </a:srgbClr>
          </a:solidFill>
          <a:ln w="15875">
            <a:solidFill>
              <a:srgbClr val="6A1D22"/>
            </a:solidFill>
            <a:prstDash val="solid"/>
          </a:ln>
        </p:spPr>
      </p:sp>
      <p:sp>
        <p:nvSpPr>
          <p:cNvPr id="50" name="Text 41"/>
          <p:cNvSpPr txBox="1"/>
          <p:nvPr/>
        </p:nvSpPr>
        <p:spPr>
          <a:xfrm>
            <a:off x="10744200" y="469087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E0262D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D3</a:t>
            </a:r>
            <a:endParaRPr lang="en-US" sz="1700" dirty="0"/>
          </a:p>
        </p:txBody>
      </p:sp>
      <p:sp>
        <p:nvSpPr>
          <p:cNvPr id="51" name="Text 42"/>
          <p:cNvSpPr txBox="1"/>
          <p:nvPr/>
        </p:nvSpPr>
        <p:spPr>
          <a:xfrm>
            <a:off x="11228832" y="4636008"/>
            <a:ext cx="278892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EBD9C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Taint Tracker</a:t>
            </a:r>
            <a:endParaRPr lang="en-US" sz="1450" dirty="0"/>
          </a:p>
        </p:txBody>
      </p:sp>
      <p:sp>
        <p:nvSpPr>
          <p:cNvPr id="52" name="Text 43"/>
          <p:cNvSpPr txBox="1"/>
          <p:nvPr/>
        </p:nvSpPr>
        <p:spPr>
          <a:xfrm>
            <a:off x="11228832" y="4937760"/>
            <a:ext cx="278892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BFA99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untrusted input → privileged action</a:t>
            </a:r>
            <a:endParaRPr lang="en-US" sz="1150" dirty="0"/>
          </a:p>
        </p:txBody>
      </p:sp>
      <p:sp>
        <p:nvSpPr>
          <p:cNvPr id="53" name="Shape 44"/>
          <p:cNvSpPr/>
          <p:nvPr/>
        </p:nvSpPr>
        <p:spPr>
          <a:xfrm>
            <a:off x="10652760" y="5394960"/>
            <a:ext cx="3429000" cy="731520"/>
          </a:xfrm>
          <a:prstGeom prst="roundRect">
            <a:avLst>
              <a:gd name="adj" fmla="val 15000"/>
            </a:avLst>
          </a:prstGeom>
          <a:solidFill>
            <a:srgbClr val="1C0A0C">
              <a:alpha val="88000"/>
            </a:srgbClr>
          </a:solidFill>
          <a:ln w="15875">
            <a:solidFill>
              <a:srgbClr val="6A1D22"/>
            </a:solidFill>
            <a:prstDash val="solid"/>
          </a:ln>
        </p:spPr>
      </p:sp>
      <p:sp>
        <p:nvSpPr>
          <p:cNvPr id="54" name="Text 45"/>
          <p:cNvSpPr txBox="1"/>
          <p:nvPr/>
        </p:nvSpPr>
        <p:spPr>
          <a:xfrm>
            <a:off x="10744200" y="551383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E0262D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D4</a:t>
            </a:r>
            <a:endParaRPr lang="en-US" sz="1700" dirty="0"/>
          </a:p>
        </p:txBody>
      </p:sp>
      <p:sp>
        <p:nvSpPr>
          <p:cNvPr id="55" name="Text 46"/>
          <p:cNvSpPr txBox="1"/>
          <p:nvPr/>
        </p:nvSpPr>
        <p:spPr>
          <a:xfrm>
            <a:off x="11228832" y="5458968"/>
            <a:ext cx="278892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EBD9C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Slow-Drift Monitor</a:t>
            </a:r>
            <a:endParaRPr lang="en-US" sz="1450" dirty="0"/>
          </a:p>
        </p:txBody>
      </p:sp>
      <p:sp>
        <p:nvSpPr>
          <p:cNvPr id="56" name="Text 47"/>
          <p:cNvSpPr txBox="1"/>
          <p:nvPr/>
        </p:nvSpPr>
        <p:spPr>
          <a:xfrm>
            <a:off x="11228832" y="5760720"/>
            <a:ext cx="278892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BFA99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CUSUM + JS-divergence over sliding windows</a:t>
            </a:r>
            <a:endParaRPr lang="en-US" sz="1150" dirty="0"/>
          </a:p>
        </p:txBody>
      </p:sp>
      <p:sp>
        <p:nvSpPr>
          <p:cNvPr id="57" name="Shape 48"/>
          <p:cNvSpPr/>
          <p:nvPr/>
        </p:nvSpPr>
        <p:spPr>
          <a:xfrm>
            <a:off x="10652760" y="6217920"/>
            <a:ext cx="3429000" cy="731520"/>
          </a:xfrm>
          <a:prstGeom prst="roundRect">
            <a:avLst>
              <a:gd name="adj" fmla="val 15000"/>
            </a:avLst>
          </a:prstGeom>
          <a:solidFill>
            <a:srgbClr val="1C0A0C">
              <a:alpha val="88000"/>
            </a:srgbClr>
          </a:solidFill>
          <a:ln w="15875">
            <a:solidFill>
              <a:srgbClr val="6A1D22"/>
            </a:solidFill>
            <a:prstDash val="solid"/>
          </a:ln>
        </p:spPr>
      </p:sp>
      <p:sp>
        <p:nvSpPr>
          <p:cNvPr id="58" name="Text 49"/>
          <p:cNvSpPr txBox="1"/>
          <p:nvPr/>
        </p:nvSpPr>
        <p:spPr>
          <a:xfrm>
            <a:off x="10744200" y="633679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E0262D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D5</a:t>
            </a:r>
            <a:endParaRPr lang="en-US" sz="1700" dirty="0"/>
          </a:p>
        </p:txBody>
      </p:sp>
      <p:sp>
        <p:nvSpPr>
          <p:cNvPr id="59" name="Text 50"/>
          <p:cNvSpPr txBox="1"/>
          <p:nvPr/>
        </p:nvSpPr>
        <p:spPr>
          <a:xfrm>
            <a:off x="11228832" y="6281928"/>
            <a:ext cx="278892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EBD9C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Chain Propagation</a:t>
            </a:r>
            <a:endParaRPr lang="en-US" sz="1450" dirty="0"/>
          </a:p>
        </p:txBody>
      </p:sp>
      <p:sp>
        <p:nvSpPr>
          <p:cNvPr id="60" name="Text 51"/>
          <p:cNvSpPr txBox="1"/>
          <p:nvPr/>
        </p:nvSpPr>
        <p:spPr>
          <a:xfrm>
            <a:off x="11228832" y="6583680"/>
            <a:ext cx="278892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BFA99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risk inherited along the delegation graph</a:t>
            </a:r>
            <a:endParaRPr lang="en-US" sz="1150" dirty="0"/>
          </a:p>
        </p:txBody>
      </p:sp>
      <p:sp>
        <p:nvSpPr>
          <p:cNvPr id="61" name="Shape 52"/>
          <p:cNvSpPr/>
          <p:nvPr/>
        </p:nvSpPr>
        <p:spPr>
          <a:xfrm rot="5400000">
            <a:off x="14154912" y="4777740"/>
            <a:ext cx="329184" cy="329184"/>
          </a:xfrm>
          <a:prstGeom prst="triangle">
            <a:avLst/>
          </a:prstGeom>
          <a:solidFill>
            <a:srgbClr val="E0262D"/>
          </a:solidFill>
          <a:ln w="12700">
            <a:solidFill>
              <a:srgbClr val="E0262D"/>
            </a:solidFill>
            <a:prstDash val="solid"/>
          </a:ln>
        </p:spPr>
      </p:sp>
      <p:sp>
        <p:nvSpPr>
          <p:cNvPr id="62" name="Text 53"/>
          <p:cNvSpPr txBox="1"/>
          <p:nvPr/>
        </p:nvSpPr>
        <p:spPr>
          <a:xfrm>
            <a:off x="14584680" y="2487168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spc="100" kern="0" dirty="0">
                <a:solidFill>
                  <a:srgbClr val="E0262D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PROVE &amp; RESPOND</a:t>
            </a:r>
            <a:endParaRPr lang="en-US" sz="1500" dirty="0"/>
          </a:p>
        </p:txBody>
      </p:sp>
      <p:sp>
        <p:nvSpPr>
          <p:cNvPr id="63" name="Shape 54"/>
          <p:cNvSpPr/>
          <p:nvPr/>
        </p:nvSpPr>
        <p:spPr>
          <a:xfrm>
            <a:off x="14584680" y="2926080"/>
            <a:ext cx="3200400" cy="1325880"/>
          </a:xfrm>
          <a:prstGeom prst="roundRect">
            <a:avLst>
              <a:gd name="adj" fmla="val 8276"/>
            </a:avLst>
          </a:prstGeom>
          <a:solidFill>
            <a:srgbClr val="1C0A0C">
              <a:alpha val="88000"/>
            </a:srgbClr>
          </a:solidFill>
          <a:ln w="25400">
            <a:solidFill>
              <a:srgbClr val="E0262D"/>
            </a:solidFill>
            <a:prstDash val="solid"/>
          </a:ln>
          <a:effectLst>
            <a:outerShdw sx="100000" sy="100000" kx="0" ky="0" algn="bl" rotWithShape="0" blurRad="177800" dist="50800" dir="16200000">
              <a:srgbClr val="E0262D">
                <a:alpha val="70000"/>
              </a:srgbClr>
            </a:outerShdw>
          </a:effectLst>
        </p:spPr>
      </p:sp>
      <p:pic>
        <p:nvPicPr>
          <p:cNvPr id="64" name="Image 7" descr="preencoded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4703552" y="3017520"/>
            <a:ext cx="384048" cy="384048"/>
          </a:xfrm>
          <a:prstGeom prst="rect">
            <a:avLst/>
          </a:prstGeom>
        </p:spPr>
      </p:pic>
      <p:sp>
        <p:nvSpPr>
          <p:cNvPr id="65" name="Text 55"/>
          <p:cNvSpPr txBox="1"/>
          <p:nvPr/>
        </p:nvSpPr>
        <p:spPr>
          <a:xfrm>
            <a:off x="15133320" y="3035808"/>
            <a:ext cx="2606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DOPPELGÄNGER TEST</a:t>
            </a:r>
            <a:endParaRPr lang="en-US" sz="1550" dirty="0"/>
          </a:p>
        </p:txBody>
      </p:sp>
      <p:sp>
        <p:nvSpPr>
          <p:cNvPr id="66" name="Text 56"/>
          <p:cNvSpPr txBox="1"/>
          <p:nvPr/>
        </p:nvSpPr>
        <p:spPr>
          <a:xfrm>
            <a:off x="14721840" y="3456432"/>
            <a:ext cx="29718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EDE2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Risk ≥ 40: a sandboxed twin replays the task without the untrusted input. Divergence = injection proven.</a:t>
            </a:r>
            <a:endParaRPr lang="en-US" sz="1200" dirty="0"/>
          </a:p>
        </p:txBody>
      </p:sp>
      <p:sp>
        <p:nvSpPr>
          <p:cNvPr id="67" name="Shape 57"/>
          <p:cNvSpPr/>
          <p:nvPr/>
        </p:nvSpPr>
        <p:spPr>
          <a:xfrm>
            <a:off x="14584680" y="4389120"/>
            <a:ext cx="3200400" cy="566928"/>
          </a:xfrm>
          <a:prstGeom prst="roundRect">
            <a:avLst>
              <a:gd name="adj" fmla="val 16129"/>
            </a:avLst>
          </a:prstGeom>
          <a:solidFill>
            <a:srgbClr val="6FDC9B">
              <a:alpha val="18000"/>
            </a:srgbClr>
          </a:solidFill>
          <a:ln w="15875">
            <a:solidFill>
              <a:srgbClr val="6FDC9B"/>
            </a:solidFill>
            <a:prstDash val="solid"/>
          </a:ln>
        </p:spPr>
      </p:sp>
      <p:sp>
        <p:nvSpPr>
          <p:cNvPr id="68" name="Text 58"/>
          <p:cNvSpPr txBox="1"/>
          <p:nvPr/>
        </p:nvSpPr>
        <p:spPr>
          <a:xfrm>
            <a:off x="14676120" y="4480560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6FDC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0–39</a:t>
            </a:r>
            <a:endParaRPr lang="en-US" sz="1400" dirty="0"/>
          </a:p>
        </p:txBody>
      </p:sp>
      <p:sp>
        <p:nvSpPr>
          <p:cNvPr id="69" name="Text 59"/>
          <p:cNvSpPr txBox="1"/>
          <p:nvPr/>
        </p:nvSpPr>
        <p:spPr>
          <a:xfrm>
            <a:off x="15361920" y="4425696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WATCH</a:t>
            </a:r>
            <a:endParaRPr lang="en-US" sz="1350" dirty="0"/>
          </a:p>
        </p:txBody>
      </p:sp>
      <p:sp>
        <p:nvSpPr>
          <p:cNvPr id="70" name="Text 60"/>
          <p:cNvSpPr txBox="1"/>
          <p:nvPr/>
        </p:nvSpPr>
        <p:spPr>
          <a:xfrm>
            <a:off x="15361920" y="4681728"/>
            <a:ext cx="2377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EDE2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 + learn</a:t>
            </a:r>
            <a:endParaRPr lang="en-US" sz="1150" dirty="0"/>
          </a:p>
        </p:txBody>
      </p:sp>
      <p:sp>
        <p:nvSpPr>
          <p:cNvPr id="71" name="Shape 61"/>
          <p:cNvSpPr/>
          <p:nvPr/>
        </p:nvSpPr>
        <p:spPr>
          <a:xfrm>
            <a:off x="14584680" y="5047488"/>
            <a:ext cx="3200400" cy="566928"/>
          </a:xfrm>
          <a:prstGeom prst="roundRect">
            <a:avLst>
              <a:gd name="adj" fmla="val 16129"/>
            </a:avLst>
          </a:prstGeom>
          <a:solidFill>
            <a:srgbClr val="FFC061">
              <a:alpha val="18000"/>
            </a:srgbClr>
          </a:solidFill>
          <a:ln w="15875">
            <a:solidFill>
              <a:srgbClr val="FFC061"/>
            </a:solidFill>
            <a:prstDash val="solid"/>
          </a:ln>
        </p:spPr>
      </p:sp>
      <p:sp>
        <p:nvSpPr>
          <p:cNvPr id="72" name="Text 62"/>
          <p:cNvSpPr txBox="1"/>
          <p:nvPr/>
        </p:nvSpPr>
        <p:spPr>
          <a:xfrm>
            <a:off x="14676120" y="5138928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C0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40–69</a:t>
            </a:r>
            <a:endParaRPr lang="en-US" sz="1400" dirty="0"/>
          </a:p>
        </p:txBody>
      </p:sp>
      <p:sp>
        <p:nvSpPr>
          <p:cNvPr id="73" name="Text 63"/>
          <p:cNvSpPr txBox="1"/>
          <p:nvPr/>
        </p:nvSpPr>
        <p:spPr>
          <a:xfrm>
            <a:off x="15361920" y="5084064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STEP-UP</a:t>
            </a:r>
            <a:endParaRPr lang="en-US" sz="1350" dirty="0"/>
          </a:p>
        </p:txBody>
      </p:sp>
      <p:sp>
        <p:nvSpPr>
          <p:cNvPr id="74" name="Text 64"/>
          <p:cNvSpPr txBox="1"/>
          <p:nvPr/>
        </p:nvSpPr>
        <p:spPr>
          <a:xfrm>
            <a:off x="15361920" y="5340096"/>
            <a:ext cx="2377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EDE2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human approves next action</a:t>
            </a:r>
            <a:endParaRPr lang="en-US" sz="1150" dirty="0"/>
          </a:p>
        </p:txBody>
      </p:sp>
      <p:sp>
        <p:nvSpPr>
          <p:cNvPr id="75" name="Shape 65"/>
          <p:cNvSpPr/>
          <p:nvPr/>
        </p:nvSpPr>
        <p:spPr>
          <a:xfrm>
            <a:off x="14584680" y="5705856"/>
            <a:ext cx="3200400" cy="566928"/>
          </a:xfrm>
          <a:prstGeom prst="roundRect">
            <a:avLst>
              <a:gd name="adj" fmla="val 16129"/>
            </a:avLst>
          </a:prstGeom>
          <a:solidFill>
            <a:srgbClr val="FF8A3D">
              <a:alpha val="18000"/>
            </a:srgbClr>
          </a:solidFill>
          <a:ln w="15875">
            <a:solidFill>
              <a:srgbClr val="FF8A3D"/>
            </a:solidFill>
            <a:prstDash val="solid"/>
          </a:ln>
        </p:spPr>
      </p:sp>
      <p:sp>
        <p:nvSpPr>
          <p:cNvPr id="76" name="Text 66"/>
          <p:cNvSpPr txBox="1"/>
          <p:nvPr/>
        </p:nvSpPr>
        <p:spPr>
          <a:xfrm>
            <a:off x="14676120" y="5797296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70–84</a:t>
            </a:r>
            <a:endParaRPr lang="en-US" sz="1400" dirty="0"/>
          </a:p>
        </p:txBody>
      </p:sp>
      <p:sp>
        <p:nvSpPr>
          <p:cNvPr id="77" name="Text 67"/>
          <p:cNvSpPr txBox="1"/>
          <p:nvPr/>
        </p:nvSpPr>
        <p:spPr>
          <a:xfrm>
            <a:off x="15361920" y="5742432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SCOPE-SHRINK</a:t>
            </a:r>
            <a:endParaRPr lang="en-US" sz="1350" dirty="0"/>
          </a:p>
        </p:txBody>
      </p:sp>
      <p:sp>
        <p:nvSpPr>
          <p:cNvPr id="78" name="Text 68"/>
          <p:cNvSpPr txBox="1"/>
          <p:nvPr/>
        </p:nvSpPr>
        <p:spPr>
          <a:xfrm>
            <a:off x="15361920" y="5998464"/>
            <a:ext cx="2377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EDE2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least-privilege token</a:t>
            </a:r>
            <a:endParaRPr lang="en-US" sz="1150" dirty="0"/>
          </a:p>
        </p:txBody>
      </p:sp>
      <p:sp>
        <p:nvSpPr>
          <p:cNvPr id="79" name="Shape 69"/>
          <p:cNvSpPr/>
          <p:nvPr/>
        </p:nvSpPr>
        <p:spPr>
          <a:xfrm>
            <a:off x="14584680" y="6364224"/>
            <a:ext cx="3200400" cy="566928"/>
          </a:xfrm>
          <a:prstGeom prst="roundRect">
            <a:avLst>
              <a:gd name="adj" fmla="val 16129"/>
            </a:avLst>
          </a:prstGeom>
          <a:solidFill>
            <a:srgbClr val="E0262D">
              <a:alpha val="18000"/>
            </a:srgbClr>
          </a:solidFill>
          <a:ln w="15875">
            <a:solidFill>
              <a:srgbClr val="E0262D"/>
            </a:solidFill>
            <a:prstDash val="solid"/>
          </a:ln>
        </p:spPr>
      </p:sp>
      <p:sp>
        <p:nvSpPr>
          <p:cNvPr id="80" name="Text 70"/>
          <p:cNvSpPr txBox="1"/>
          <p:nvPr/>
        </p:nvSpPr>
        <p:spPr>
          <a:xfrm>
            <a:off x="14676120" y="6455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026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85+</a:t>
            </a:r>
            <a:endParaRPr lang="en-US" sz="1400" dirty="0"/>
          </a:p>
        </p:txBody>
      </p:sp>
      <p:sp>
        <p:nvSpPr>
          <p:cNvPr id="81" name="Text 71"/>
          <p:cNvSpPr txBox="1"/>
          <p:nvPr/>
        </p:nvSpPr>
        <p:spPr>
          <a:xfrm>
            <a:off x="15361920" y="640080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QUARANTINE</a:t>
            </a:r>
            <a:endParaRPr lang="en-US" sz="1350" dirty="0"/>
          </a:p>
        </p:txBody>
      </p:sp>
      <p:sp>
        <p:nvSpPr>
          <p:cNvPr id="82" name="Text 72"/>
          <p:cNvSpPr txBox="1"/>
          <p:nvPr/>
        </p:nvSpPr>
        <p:spPr>
          <a:xfrm>
            <a:off x="15361920" y="6656832"/>
            <a:ext cx="2377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EDE2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sandbox + token revoke</a:t>
            </a:r>
            <a:endParaRPr lang="en-US" sz="1150" dirty="0"/>
          </a:p>
        </p:txBody>
      </p:sp>
      <p:sp>
        <p:nvSpPr>
          <p:cNvPr id="83" name="Shape 73"/>
          <p:cNvSpPr/>
          <p:nvPr/>
        </p:nvSpPr>
        <p:spPr>
          <a:xfrm>
            <a:off x="8595360" y="7178040"/>
            <a:ext cx="7589520" cy="0"/>
          </a:xfrm>
          <a:prstGeom prst="line">
            <a:avLst/>
          </a:prstGeom>
          <a:noFill/>
          <a:ln w="19050">
            <a:solidFill>
              <a:srgbClr val="FFC061"/>
            </a:solidFill>
            <a:prstDash val="dash"/>
            <a:headEnd type="triangle"/>
          </a:ln>
        </p:spPr>
      </p:sp>
      <p:sp>
        <p:nvSpPr>
          <p:cNvPr id="84" name="Shape 74"/>
          <p:cNvSpPr/>
          <p:nvPr/>
        </p:nvSpPr>
        <p:spPr>
          <a:xfrm>
            <a:off x="16184880" y="7040880"/>
            <a:ext cx="0" cy="137160"/>
          </a:xfrm>
          <a:prstGeom prst="line">
            <a:avLst/>
          </a:prstGeom>
          <a:noFill/>
          <a:ln w="19050">
            <a:solidFill>
              <a:srgbClr val="FFC061"/>
            </a:solidFill>
            <a:prstDash val="dash"/>
          </a:ln>
        </p:spPr>
      </p:sp>
      <p:sp>
        <p:nvSpPr>
          <p:cNvPr id="85" name="Shape 75"/>
          <p:cNvSpPr/>
          <p:nvPr/>
        </p:nvSpPr>
        <p:spPr>
          <a:xfrm>
            <a:off x="8595360" y="7040880"/>
            <a:ext cx="0" cy="137160"/>
          </a:xfrm>
          <a:prstGeom prst="line">
            <a:avLst/>
          </a:prstGeom>
          <a:noFill/>
          <a:ln w="19050">
            <a:solidFill>
              <a:srgbClr val="FFC061"/>
            </a:solidFill>
            <a:prstDash val="dash"/>
          </a:ln>
        </p:spPr>
      </p:sp>
      <p:sp>
        <p:nvSpPr>
          <p:cNvPr id="86" name="Text 76"/>
          <p:cNvSpPr txBox="1"/>
          <p:nvPr/>
        </p:nvSpPr>
        <p:spPr>
          <a:xfrm>
            <a:off x="8595360" y="7223760"/>
            <a:ext cx="7589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50" i="1" dirty="0">
                <a:solidFill>
                  <a:srgbClr val="FFC0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Feedback loop: approved role changes re-version the contract, so legit change is learned</a:t>
            </a:r>
            <a:endParaRPr lang="en-US" sz="1250" dirty="0"/>
          </a:p>
        </p:txBody>
      </p:sp>
      <p:sp>
        <p:nvSpPr>
          <p:cNvPr id="87" name="Shape 77"/>
          <p:cNvSpPr/>
          <p:nvPr/>
        </p:nvSpPr>
        <p:spPr>
          <a:xfrm>
            <a:off x="502920" y="7726680"/>
            <a:ext cx="8138160" cy="1874520"/>
          </a:xfrm>
          <a:prstGeom prst="roundRect">
            <a:avLst>
              <a:gd name="adj" fmla="val 5854"/>
            </a:avLst>
          </a:prstGeom>
          <a:solidFill>
            <a:srgbClr val="1C0A0C">
              <a:alpha val="88000"/>
            </a:srgbClr>
          </a:solidFill>
          <a:ln w="15875">
            <a:solidFill>
              <a:srgbClr val="E0262D"/>
            </a:solidFill>
            <a:prstDash val="solid"/>
          </a:ln>
        </p:spPr>
      </p:sp>
      <p:sp>
        <p:nvSpPr>
          <p:cNvPr id="88" name="Text 78"/>
          <p:cNvSpPr txBox="1"/>
          <p:nvPr/>
        </p:nvSpPr>
        <p:spPr>
          <a:xfrm>
            <a:off x="731520" y="7845552"/>
            <a:ext cx="7680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E0262D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THE POSSESSION SCORE  ·  explainable, top-3 reasons on every alert</a:t>
            </a:r>
            <a:endParaRPr lang="en-US" sz="1400" dirty="0"/>
          </a:p>
        </p:txBody>
      </p:sp>
      <p:sp>
        <p:nvSpPr>
          <p:cNvPr id="89" name="Text 79"/>
          <p:cNvSpPr txBox="1"/>
          <p:nvPr/>
        </p:nvSpPr>
        <p:spPr>
          <a:xfrm>
            <a:off x="731520" y="8229600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Cambria Math" pitchFamily="34" charset="0"/>
                <a:ea typeface="Cambria Math" pitchFamily="34" charset="-122"/>
                <a:cs typeface="Cambria Math" pitchFamily="34" charset="-120"/>
              </a:rPr>
              <a:t>R = 100 · σ( w₁·Role + w₂·Seq + w₃·Taint + w₄·Drift + w₅·Chain + w₆·Twin − b )</a:t>
            </a:r>
            <a:endParaRPr lang="en-US" sz="1600" dirty="0"/>
          </a:p>
        </p:txBody>
      </p:sp>
      <p:sp>
        <p:nvSpPr>
          <p:cNvPr id="90" name="Text 80"/>
          <p:cNvSpPr txBox="1"/>
          <p:nvPr/>
        </p:nvSpPr>
        <p:spPr>
          <a:xfrm>
            <a:off x="731520" y="8778240"/>
            <a:ext cx="7726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BFA99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Weights fit by logistic regression on red-team runs. Hard contract violations and any D3COY bait touch floor the score at 70, so slow mimicry can’t hide below threshold.</a:t>
            </a:r>
            <a:endParaRPr lang="en-US" sz="1400" dirty="0"/>
          </a:p>
        </p:txBody>
      </p:sp>
      <p:sp>
        <p:nvSpPr>
          <p:cNvPr id="91" name="Text 81"/>
          <p:cNvSpPr txBox="1"/>
          <p:nvPr/>
        </p:nvSpPr>
        <p:spPr>
          <a:xfrm>
            <a:off x="8961120" y="7726680"/>
            <a:ext cx="8778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E0262D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BUILT WITH</a:t>
            </a:r>
            <a:endParaRPr lang="en-US" sz="1400" dirty="0"/>
          </a:p>
        </p:txBody>
      </p:sp>
      <p:sp>
        <p:nvSpPr>
          <p:cNvPr id="92" name="Shape 82"/>
          <p:cNvSpPr/>
          <p:nvPr/>
        </p:nvSpPr>
        <p:spPr>
          <a:xfrm>
            <a:off x="8961120" y="8119872"/>
            <a:ext cx="2788920" cy="411480"/>
          </a:xfrm>
          <a:prstGeom prst="roundRect">
            <a:avLst>
              <a:gd name="adj" fmla="val 48889"/>
            </a:avLst>
          </a:prstGeom>
          <a:solidFill>
            <a:srgbClr val="2A0B0E"/>
          </a:solidFill>
          <a:ln w="12700">
            <a:solidFill>
              <a:srgbClr val="6A1D22"/>
            </a:solidFill>
            <a:prstDash val="solid"/>
          </a:ln>
        </p:spPr>
      </p:sp>
      <p:sp>
        <p:nvSpPr>
          <p:cNvPr id="93" name="Text 83"/>
          <p:cNvSpPr txBox="1"/>
          <p:nvPr/>
        </p:nvSpPr>
        <p:spPr>
          <a:xfrm>
            <a:off x="8961120" y="8119872"/>
            <a:ext cx="2788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EBD9C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Python · FastAPI</a:t>
            </a:r>
            <a:endParaRPr lang="en-US" sz="1300" dirty="0"/>
          </a:p>
        </p:txBody>
      </p:sp>
      <p:sp>
        <p:nvSpPr>
          <p:cNvPr id="94" name="Shape 84"/>
          <p:cNvSpPr/>
          <p:nvPr/>
        </p:nvSpPr>
        <p:spPr>
          <a:xfrm>
            <a:off x="11905488" y="8119872"/>
            <a:ext cx="2788920" cy="411480"/>
          </a:xfrm>
          <a:prstGeom prst="roundRect">
            <a:avLst>
              <a:gd name="adj" fmla="val 48889"/>
            </a:avLst>
          </a:prstGeom>
          <a:solidFill>
            <a:srgbClr val="2A0B0E"/>
          </a:solidFill>
          <a:ln w="12700">
            <a:solidFill>
              <a:srgbClr val="6A1D22"/>
            </a:solidFill>
            <a:prstDash val="solid"/>
          </a:ln>
        </p:spPr>
      </p:sp>
      <p:sp>
        <p:nvSpPr>
          <p:cNvPr id="95" name="Text 85"/>
          <p:cNvSpPr txBox="1"/>
          <p:nvPr/>
        </p:nvSpPr>
        <p:spPr>
          <a:xfrm>
            <a:off x="11905488" y="8119872"/>
            <a:ext cx="2788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EBD9C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Redis Streams / Kafka</a:t>
            </a:r>
            <a:endParaRPr lang="en-US" sz="1300" dirty="0"/>
          </a:p>
        </p:txBody>
      </p:sp>
      <p:sp>
        <p:nvSpPr>
          <p:cNvPr id="96" name="Shape 86"/>
          <p:cNvSpPr/>
          <p:nvPr/>
        </p:nvSpPr>
        <p:spPr>
          <a:xfrm>
            <a:off x="14849856" y="8119872"/>
            <a:ext cx="2788920" cy="411480"/>
          </a:xfrm>
          <a:prstGeom prst="roundRect">
            <a:avLst>
              <a:gd name="adj" fmla="val 48889"/>
            </a:avLst>
          </a:prstGeom>
          <a:solidFill>
            <a:srgbClr val="2A0B0E"/>
          </a:solidFill>
          <a:ln w="12700">
            <a:solidFill>
              <a:srgbClr val="6A1D22"/>
            </a:solidFill>
            <a:prstDash val="solid"/>
          </a:ln>
        </p:spPr>
      </p:sp>
      <p:sp>
        <p:nvSpPr>
          <p:cNvPr id="97" name="Text 87"/>
          <p:cNvSpPr txBox="1"/>
          <p:nvPr/>
        </p:nvSpPr>
        <p:spPr>
          <a:xfrm>
            <a:off x="14849856" y="8119872"/>
            <a:ext cx="2788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EBD9C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scikit-learn · PyTorch</a:t>
            </a:r>
            <a:endParaRPr lang="en-US" sz="1300" dirty="0"/>
          </a:p>
        </p:txBody>
      </p:sp>
      <p:sp>
        <p:nvSpPr>
          <p:cNvPr id="98" name="Shape 88"/>
          <p:cNvSpPr/>
          <p:nvPr/>
        </p:nvSpPr>
        <p:spPr>
          <a:xfrm>
            <a:off x="8961120" y="8622792"/>
            <a:ext cx="2788920" cy="411480"/>
          </a:xfrm>
          <a:prstGeom prst="roundRect">
            <a:avLst>
              <a:gd name="adj" fmla="val 48889"/>
            </a:avLst>
          </a:prstGeom>
          <a:solidFill>
            <a:srgbClr val="2A0B0E"/>
          </a:solidFill>
          <a:ln w="12700">
            <a:solidFill>
              <a:srgbClr val="6A1D22"/>
            </a:solidFill>
            <a:prstDash val="solid"/>
          </a:ln>
        </p:spPr>
      </p:sp>
      <p:sp>
        <p:nvSpPr>
          <p:cNvPr id="99" name="Text 89"/>
          <p:cNvSpPr txBox="1"/>
          <p:nvPr/>
        </p:nvSpPr>
        <p:spPr>
          <a:xfrm>
            <a:off x="8961120" y="8622792"/>
            <a:ext cx="2788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EBD9C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Sentence-Transformers</a:t>
            </a:r>
            <a:endParaRPr lang="en-US" sz="1300" dirty="0"/>
          </a:p>
        </p:txBody>
      </p:sp>
      <p:sp>
        <p:nvSpPr>
          <p:cNvPr id="100" name="Shape 90"/>
          <p:cNvSpPr/>
          <p:nvPr/>
        </p:nvSpPr>
        <p:spPr>
          <a:xfrm>
            <a:off x="11905488" y="8622792"/>
            <a:ext cx="2788920" cy="411480"/>
          </a:xfrm>
          <a:prstGeom prst="roundRect">
            <a:avLst>
              <a:gd name="adj" fmla="val 48889"/>
            </a:avLst>
          </a:prstGeom>
          <a:solidFill>
            <a:srgbClr val="2A0B0E"/>
          </a:solidFill>
          <a:ln w="12700">
            <a:solidFill>
              <a:srgbClr val="6A1D22"/>
            </a:solidFill>
            <a:prstDash val="solid"/>
          </a:ln>
        </p:spPr>
      </p:sp>
      <p:sp>
        <p:nvSpPr>
          <p:cNvPr id="101" name="Text 91"/>
          <p:cNvSpPr txBox="1"/>
          <p:nvPr/>
        </p:nvSpPr>
        <p:spPr>
          <a:xfrm>
            <a:off x="11905488" y="8622792"/>
            <a:ext cx="2788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EBD9C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Neo4j delegation graph</a:t>
            </a:r>
            <a:endParaRPr lang="en-US" sz="1300" dirty="0"/>
          </a:p>
        </p:txBody>
      </p:sp>
      <p:sp>
        <p:nvSpPr>
          <p:cNvPr id="102" name="Shape 92"/>
          <p:cNvSpPr/>
          <p:nvPr/>
        </p:nvSpPr>
        <p:spPr>
          <a:xfrm>
            <a:off x="14849856" y="8622792"/>
            <a:ext cx="2788920" cy="411480"/>
          </a:xfrm>
          <a:prstGeom prst="roundRect">
            <a:avLst>
              <a:gd name="adj" fmla="val 48889"/>
            </a:avLst>
          </a:prstGeom>
          <a:solidFill>
            <a:srgbClr val="2A0B0E"/>
          </a:solidFill>
          <a:ln w="12700">
            <a:solidFill>
              <a:srgbClr val="6A1D22"/>
            </a:solidFill>
            <a:prstDash val="solid"/>
          </a:ln>
        </p:spPr>
      </p:sp>
      <p:sp>
        <p:nvSpPr>
          <p:cNvPr id="103" name="Text 93"/>
          <p:cNvSpPr txBox="1"/>
          <p:nvPr/>
        </p:nvSpPr>
        <p:spPr>
          <a:xfrm>
            <a:off x="14849856" y="8622792"/>
            <a:ext cx="2788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EBD9C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Policy Agent</a:t>
            </a:r>
            <a:endParaRPr lang="en-US" sz="1300" dirty="0"/>
          </a:p>
        </p:txBody>
      </p:sp>
      <p:sp>
        <p:nvSpPr>
          <p:cNvPr id="104" name="Shape 94"/>
          <p:cNvSpPr/>
          <p:nvPr/>
        </p:nvSpPr>
        <p:spPr>
          <a:xfrm>
            <a:off x="8961120" y="9125712"/>
            <a:ext cx="2788920" cy="411480"/>
          </a:xfrm>
          <a:prstGeom prst="roundRect">
            <a:avLst>
              <a:gd name="adj" fmla="val 48889"/>
            </a:avLst>
          </a:prstGeom>
          <a:solidFill>
            <a:srgbClr val="2A0B0E"/>
          </a:solidFill>
          <a:ln w="12700">
            <a:solidFill>
              <a:srgbClr val="6A1D22"/>
            </a:solidFill>
            <a:prstDash val="solid"/>
          </a:ln>
        </p:spPr>
      </p:sp>
      <p:sp>
        <p:nvSpPr>
          <p:cNvPr id="105" name="Text 95"/>
          <p:cNvSpPr txBox="1"/>
          <p:nvPr/>
        </p:nvSpPr>
        <p:spPr>
          <a:xfrm>
            <a:off x="8961120" y="9125712"/>
            <a:ext cx="2788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EBD9C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React + D3 console</a:t>
            </a:r>
            <a:endParaRPr lang="en-US" sz="1300" dirty="0"/>
          </a:p>
        </p:txBody>
      </p:sp>
      <p:sp>
        <p:nvSpPr>
          <p:cNvPr id="106" name="Shape 96"/>
          <p:cNvSpPr/>
          <p:nvPr/>
        </p:nvSpPr>
        <p:spPr>
          <a:xfrm>
            <a:off x="11905488" y="9125712"/>
            <a:ext cx="2788920" cy="411480"/>
          </a:xfrm>
          <a:prstGeom prst="roundRect">
            <a:avLst>
              <a:gd name="adj" fmla="val 48889"/>
            </a:avLst>
          </a:prstGeom>
          <a:solidFill>
            <a:srgbClr val="2A0B0E"/>
          </a:solidFill>
          <a:ln w="12700">
            <a:solidFill>
              <a:srgbClr val="6A1D22"/>
            </a:solidFill>
            <a:prstDash val="solid"/>
          </a:ln>
        </p:spPr>
      </p:sp>
      <p:sp>
        <p:nvSpPr>
          <p:cNvPr id="107" name="Text 97"/>
          <p:cNvSpPr txBox="1"/>
          <p:nvPr/>
        </p:nvSpPr>
        <p:spPr>
          <a:xfrm>
            <a:off x="11905488" y="9125712"/>
            <a:ext cx="2788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EBD9C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Docker · K8s sidecar</a:t>
            </a:r>
            <a:endParaRPr lang="en-US" sz="1300" dirty="0"/>
          </a:p>
        </p:txBody>
      </p:sp>
      <p:sp>
        <p:nvSpPr>
          <p:cNvPr id="108" name="Shape 98"/>
          <p:cNvSpPr/>
          <p:nvPr/>
        </p:nvSpPr>
        <p:spPr>
          <a:xfrm>
            <a:off x="14849856" y="9125712"/>
            <a:ext cx="2788920" cy="411480"/>
          </a:xfrm>
          <a:prstGeom prst="roundRect">
            <a:avLst>
              <a:gd name="adj" fmla="val 48889"/>
            </a:avLst>
          </a:prstGeom>
          <a:solidFill>
            <a:srgbClr val="2A0B0E"/>
          </a:solidFill>
          <a:ln w="12700">
            <a:solidFill>
              <a:srgbClr val="6A1D22"/>
            </a:solidFill>
            <a:prstDash val="solid"/>
          </a:ln>
        </p:spPr>
      </p:sp>
      <p:sp>
        <p:nvSpPr>
          <p:cNvPr id="109" name="Text 99"/>
          <p:cNvSpPr txBox="1"/>
          <p:nvPr/>
        </p:nvSpPr>
        <p:spPr>
          <a:xfrm>
            <a:off x="14849856" y="9125712"/>
            <a:ext cx="2788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EBD9C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OpenTelemetry · MCP</a:t>
            </a:r>
            <a:endParaRPr lang="en-US" sz="13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2560320"/>
            <a:ext cx="8321040" cy="4874895"/>
          </a:xfrm>
          <a:prstGeom prst="rect">
            <a:avLst/>
          </a:prstGeom>
          <a:solidFill>
            <a:srgbClr val="000000"/>
          </a:solidFill>
          <a:ln w="19050">
            <a:solidFill>
              <a:srgbClr val="E0262D"/>
            </a:solidFill>
            <a:prstDash val="solid"/>
          </a:ln>
          <a:effectLst>
            <a:outerShdw sx="100000" sy="100000" kx="0" ky="0" algn="bl" rotWithShape="0" blurRad="228600" dist="50800" dir="16200000">
              <a:srgbClr val="E0262D">
                <a:alpha val="60000"/>
              </a:srgbClr>
            </a:outerShdw>
          </a:effectLst>
        </p:spPr>
      </p:sp>
      <p:pic>
        <p:nvPicPr>
          <p:cNvPr id="3" name="Image 0" descr="SOULPRINT console prototype showing a quarantined procurement agent with risk score 92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2606040"/>
            <a:ext cx="8229600" cy="4783455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548640" y="7480935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E026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WORKING PROTOTYPE  </a:t>
            </a:r>
            <a:pPr indent="0" marL="0">
              <a:buNone/>
            </a:pPr>
            <a:r>
              <a:rPr lang="en-US" sz="1350" i="1" dirty="0">
                <a:solidFill>
                  <a:srgbClr val="BFA99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demo: </a:t>
            </a:r>
            <a:pPr indent="0" marL="0">
              <a:buNone/>
            </a:pPr>
            <a:r>
              <a:rPr lang="en-US" sz="1350" u="sng" dirty="0">
                <a:solidFill>
                  <a:srgbClr val="EBD9C6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3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claude.ai/artifact/EEq7yQUDWbJjQ95RFFGFH5</a:t>
            </a:r>
            <a:endParaRPr lang="en-US" sz="1350" dirty="0"/>
          </a:p>
        </p:txBody>
      </p:sp>
      <p:sp>
        <p:nvSpPr>
          <p:cNvPr id="5" name="Shape 2"/>
          <p:cNvSpPr/>
          <p:nvPr/>
        </p:nvSpPr>
        <p:spPr>
          <a:xfrm>
            <a:off x="548640" y="7818120"/>
            <a:ext cx="2615184" cy="1828800"/>
          </a:xfrm>
          <a:prstGeom prst="roundRect">
            <a:avLst>
              <a:gd name="adj" fmla="val 6000"/>
            </a:avLst>
          </a:prstGeom>
          <a:solidFill>
            <a:srgbClr val="1C0A0C">
              <a:alpha val="88000"/>
            </a:srgbClr>
          </a:solidFill>
          <a:ln w="15875">
            <a:solidFill>
              <a:srgbClr val="6A1D22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548640" y="7863840"/>
            <a:ext cx="261518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E0262D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0</a:t>
            </a:r>
            <a:endParaRPr lang="en-US" sz="3400" dirty="0"/>
          </a:p>
        </p:txBody>
      </p:sp>
      <p:sp>
        <p:nvSpPr>
          <p:cNvPr id="7" name="Text 4"/>
          <p:cNvSpPr txBox="1"/>
          <p:nvPr/>
        </p:nvSpPr>
        <p:spPr>
          <a:xfrm>
            <a:off x="640080" y="8613648"/>
            <a:ext cx="243230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EBD9C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lines of agent code changed</a:t>
            </a:r>
            <a:endParaRPr lang="en-US" sz="1400" dirty="0"/>
          </a:p>
        </p:txBody>
      </p:sp>
      <p:sp>
        <p:nvSpPr>
          <p:cNvPr id="8" name="Text 5"/>
          <p:cNvSpPr txBox="1"/>
          <p:nvPr/>
        </p:nvSpPr>
        <p:spPr>
          <a:xfrm>
            <a:off x="640080" y="9162288"/>
            <a:ext cx="243230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BFA99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drop-in MCP proxy</a:t>
            </a:r>
            <a:endParaRPr lang="en-US" sz="1200" dirty="0"/>
          </a:p>
        </p:txBody>
      </p:sp>
      <p:sp>
        <p:nvSpPr>
          <p:cNvPr id="9" name="Shape 6"/>
          <p:cNvSpPr/>
          <p:nvPr/>
        </p:nvSpPr>
        <p:spPr>
          <a:xfrm>
            <a:off x="3355848" y="7818120"/>
            <a:ext cx="2615184" cy="1828800"/>
          </a:xfrm>
          <a:prstGeom prst="roundRect">
            <a:avLst>
              <a:gd name="adj" fmla="val 6000"/>
            </a:avLst>
          </a:prstGeom>
          <a:solidFill>
            <a:srgbClr val="1C0A0C">
              <a:alpha val="88000"/>
            </a:srgbClr>
          </a:solidFill>
          <a:ln w="15875">
            <a:solidFill>
              <a:srgbClr val="6A1D22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3355848" y="7863840"/>
            <a:ext cx="261518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E0262D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&lt;50 ms</a:t>
            </a:r>
            <a:endParaRPr lang="en-US" sz="3400" dirty="0"/>
          </a:p>
        </p:txBody>
      </p:sp>
      <p:sp>
        <p:nvSpPr>
          <p:cNvPr id="11" name="Text 8"/>
          <p:cNvSpPr txBox="1"/>
          <p:nvPr/>
        </p:nvSpPr>
        <p:spPr>
          <a:xfrm>
            <a:off x="3447288" y="8613648"/>
            <a:ext cx="243230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EBD9C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score one action</a:t>
            </a:r>
            <a:endParaRPr lang="en-US" sz="1400" dirty="0"/>
          </a:p>
        </p:txBody>
      </p:sp>
      <p:sp>
        <p:nvSpPr>
          <p:cNvPr id="12" name="Text 9"/>
          <p:cNvSpPr txBox="1"/>
          <p:nvPr/>
        </p:nvSpPr>
        <p:spPr>
          <a:xfrm>
            <a:off x="3447288" y="9162288"/>
            <a:ext cx="243230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BFA99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CPU-only models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6163056" y="7818120"/>
            <a:ext cx="2615184" cy="1828800"/>
          </a:xfrm>
          <a:prstGeom prst="roundRect">
            <a:avLst>
              <a:gd name="adj" fmla="val 6000"/>
            </a:avLst>
          </a:prstGeom>
          <a:solidFill>
            <a:srgbClr val="1C0A0C">
              <a:alpha val="88000"/>
            </a:srgbClr>
          </a:solidFill>
          <a:ln w="15875">
            <a:solidFill>
              <a:srgbClr val="6A1D22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6163056" y="7863840"/>
            <a:ext cx="261518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E0262D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0 bytes</a:t>
            </a:r>
            <a:endParaRPr lang="en-US" sz="3400" dirty="0"/>
          </a:p>
        </p:txBody>
      </p:sp>
      <p:sp>
        <p:nvSpPr>
          <p:cNvPr id="15" name="Text 12"/>
          <p:cNvSpPr txBox="1"/>
          <p:nvPr/>
        </p:nvSpPr>
        <p:spPr>
          <a:xfrm>
            <a:off x="6254496" y="8613648"/>
            <a:ext cx="243230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EBD9C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prompt content stored</a:t>
            </a:r>
            <a:endParaRPr lang="en-US" sz="1400" dirty="0"/>
          </a:p>
        </p:txBody>
      </p:sp>
      <p:sp>
        <p:nvSpPr>
          <p:cNvPr id="16" name="Text 13"/>
          <p:cNvSpPr txBox="1"/>
          <p:nvPr/>
        </p:nvSpPr>
        <p:spPr>
          <a:xfrm>
            <a:off x="6254496" y="9162288"/>
            <a:ext cx="243230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BFA99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metadata-only telemetry</a:t>
            </a:r>
            <a:endParaRPr lang="en-US" sz="1200" dirty="0"/>
          </a:p>
        </p:txBody>
      </p:sp>
      <p:sp>
        <p:nvSpPr>
          <p:cNvPr id="17" name="Text 14"/>
          <p:cNvSpPr txBox="1"/>
          <p:nvPr/>
        </p:nvSpPr>
        <p:spPr>
          <a:xfrm>
            <a:off x="9738360" y="2560320"/>
            <a:ext cx="8046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E0262D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WHY IT IS FEASIBLE TODAY</a:t>
            </a:r>
            <a:endParaRPr lang="en-US" sz="1800" dirty="0"/>
          </a:p>
        </p:txBody>
      </p:sp>
      <p:sp>
        <p:nvSpPr>
          <p:cNvPr id="18" name="Shape 15"/>
          <p:cNvSpPr/>
          <p:nvPr/>
        </p:nvSpPr>
        <p:spPr>
          <a:xfrm>
            <a:off x="9738360" y="3017520"/>
            <a:ext cx="658368" cy="658368"/>
          </a:xfrm>
          <a:prstGeom prst="ellipse">
            <a:avLst/>
          </a:prstGeom>
          <a:solidFill>
            <a:srgbClr val="2A0B0E"/>
          </a:solidFill>
          <a:ln w="25400">
            <a:solidFill>
              <a:srgbClr val="E0262D"/>
            </a:solidFill>
            <a:prstDash val="solid"/>
          </a:ln>
          <a:effectLst>
            <a:outerShdw sx="100000" sy="100000" kx="0" ky="0" algn="bl" rotWithShape="0" blurRad="152400" dist="50800" dir="16200000">
              <a:srgbClr val="E0262D">
                <a:alpha val="55000"/>
              </a:srgbClr>
            </a:outerShdw>
          </a:effectLst>
        </p:spPr>
      </p:sp>
      <p:pic>
        <p:nvPicPr>
          <p:cNvPr id="19" name="Image 1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870034" y="3149194"/>
            <a:ext cx="395021" cy="395021"/>
          </a:xfrm>
          <a:prstGeom prst="rect">
            <a:avLst/>
          </a:prstGeom>
        </p:spPr>
      </p:pic>
      <p:sp>
        <p:nvSpPr>
          <p:cNvPr id="20" name="Text 16"/>
          <p:cNvSpPr txBox="1"/>
          <p:nvPr/>
        </p:nvSpPr>
        <p:spPr>
          <a:xfrm>
            <a:off x="10607040" y="2999232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EBD9C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Technical</a:t>
            </a:r>
            <a:endParaRPr lang="en-US" sz="1600" dirty="0"/>
          </a:p>
        </p:txBody>
      </p:sp>
      <p:sp>
        <p:nvSpPr>
          <p:cNvPr id="21" name="Text 17"/>
          <p:cNvSpPr txBox="1"/>
          <p:nvPr/>
        </p:nvSpPr>
        <p:spPr>
          <a:xfrm>
            <a:off x="10607040" y="3310128"/>
            <a:ext cx="7178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EDE2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Built only on open standards (MCP, OpenTelemetry, OPA) and light models that run on a laptop CPU.</a:t>
            </a:r>
            <a:endParaRPr lang="en-US" sz="1350" dirty="0"/>
          </a:p>
        </p:txBody>
      </p:sp>
      <p:sp>
        <p:nvSpPr>
          <p:cNvPr id="22" name="Shape 18"/>
          <p:cNvSpPr/>
          <p:nvPr/>
        </p:nvSpPr>
        <p:spPr>
          <a:xfrm>
            <a:off x="9738360" y="3931920"/>
            <a:ext cx="658368" cy="658368"/>
          </a:xfrm>
          <a:prstGeom prst="ellipse">
            <a:avLst/>
          </a:prstGeom>
          <a:solidFill>
            <a:srgbClr val="2A0B0E"/>
          </a:solidFill>
          <a:ln w="25400">
            <a:solidFill>
              <a:srgbClr val="E0262D"/>
            </a:solidFill>
            <a:prstDash val="solid"/>
          </a:ln>
          <a:effectLst>
            <a:outerShdw sx="100000" sy="100000" kx="0" ky="0" algn="bl" rotWithShape="0" blurRad="152400" dist="50800" dir="16200000">
              <a:srgbClr val="E0262D">
                <a:alpha val="55000"/>
              </a:srgbClr>
            </a:outerShdw>
          </a:effectLst>
        </p:spPr>
      </p:sp>
      <p:pic>
        <p:nvPicPr>
          <p:cNvPr id="23" name="Image 2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870034" y="4063594"/>
            <a:ext cx="395021" cy="395021"/>
          </a:xfrm>
          <a:prstGeom prst="rect">
            <a:avLst/>
          </a:prstGeom>
        </p:spPr>
      </p:pic>
      <p:sp>
        <p:nvSpPr>
          <p:cNvPr id="24" name="Text 19"/>
          <p:cNvSpPr txBox="1"/>
          <p:nvPr/>
        </p:nvSpPr>
        <p:spPr>
          <a:xfrm>
            <a:off x="10607040" y="3913632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EBD9C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Operational</a:t>
            </a:r>
            <a:endParaRPr lang="en-US" sz="1600" dirty="0"/>
          </a:p>
        </p:txBody>
      </p:sp>
      <p:sp>
        <p:nvSpPr>
          <p:cNvPr id="25" name="Text 20"/>
          <p:cNvSpPr txBox="1"/>
          <p:nvPr/>
        </p:nvSpPr>
        <p:spPr>
          <a:xfrm>
            <a:off x="10607040" y="4224528"/>
            <a:ext cx="7178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EDE2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Starts in shadow mode, then graduated response: no business process is ever hard-stopped by a guess.</a:t>
            </a:r>
            <a:endParaRPr lang="en-US" sz="1350" dirty="0"/>
          </a:p>
        </p:txBody>
      </p:sp>
      <p:sp>
        <p:nvSpPr>
          <p:cNvPr id="26" name="Shape 21"/>
          <p:cNvSpPr/>
          <p:nvPr/>
        </p:nvSpPr>
        <p:spPr>
          <a:xfrm>
            <a:off x="9738360" y="4846320"/>
            <a:ext cx="658368" cy="658368"/>
          </a:xfrm>
          <a:prstGeom prst="ellipse">
            <a:avLst/>
          </a:prstGeom>
          <a:solidFill>
            <a:srgbClr val="2A0B0E"/>
          </a:solidFill>
          <a:ln w="25400">
            <a:solidFill>
              <a:srgbClr val="E0262D"/>
            </a:solidFill>
            <a:prstDash val="solid"/>
          </a:ln>
          <a:effectLst>
            <a:outerShdw sx="100000" sy="100000" kx="0" ky="0" algn="bl" rotWithShape="0" blurRad="152400" dist="50800" dir="16200000">
              <a:srgbClr val="E0262D">
                <a:alpha val="55000"/>
              </a:srgbClr>
            </a:outerShdw>
          </a:effectLst>
        </p:spPr>
      </p:sp>
      <p:pic>
        <p:nvPicPr>
          <p:cNvPr id="27" name="Image 3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870034" y="4977994"/>
            <a:ext cx="395021" cy="395021"/>
          </a:xfrm>
          <a:prstGeom prst="rect">
            <a:avLst/>
          </a:prstGeom>
        </p:spPr>
      </p:pic>
      <p:sp>
        <p:nvSpPr>
          <p:cNvPr id="28" name="Text 22"/>
          <p:cNvSpPr txBox="1"/>
          <p:nvPr/>
        </p:nvSpPr>
        <p:spPr>
          <a:xfrm>
            <a:off x="10607040" y="4828032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EBD9C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Economic</a:t>
            </a:r>
            <a:endParaRPr lang="en-US" sz="1600" dirty="0"/>
          </a:p>
        </p:txBody>
      </p:sp>
      <p:sp>
        <p:nvSpPr>
          <p:cNvPr id="29" name="Text 23"/>
          <p:cNvSpPr txBox="1"/>
          <p:nvPr/>
        </p:nvSpPr>
        <p:spPr>
          <a:xfrm>
            <a:off x="10607040" y="5138928"/>
            <a:ext cx="7178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EDE2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Open-core SDK + SaaS console priced per monitored agent: cheap to try, scales with agent adoption.</a:t>
            </a:r>
            <a:endParaRPr lang="en-US" sz="1350" dirty="0"/>
          </a:p>
        </p:txBody>
      </p:sp>
      <p:sp>
        <p:nvSpPr>
          <p:cNvPr id="30" name="Text 24"/>
          <p:cNvSpPr txBox="1"/>
          <p:nvPr/>
        </p:nvSpPr>
        <p:spPr>
          <a:xfrm>
            <a:off x="9738360" y="5897880"/>
            <a:ext cx="8046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E0262D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RISKS WE PLANNED FOR</a:t>
            </a:r>
            <a:endParaRPr lang="en-US" sz="18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9738360" y="6355080"/>
          <a:ext cx="8046720" cy="914400"/>
        </p:xfrm>
        <a:graphic>
          <a:graphicData uri="http://schemas.openxmlformats.org/drawingml/2006/table">
            <a:tbl>
              <a:tblPr/>
              <a:tblGrid>
                <a:gridCol w="2926080"/>
                <a:gridCol w="5120640"/>
              </a:tblGrid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Challenge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0" marB="0" anchor="ctr">
                    <a:lnL w="12700" cap="flat" cmpd="sng" algn="ctr">
                      <a:solidFill>
                        <a:srgbClr val="3A141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A141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A141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A141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E101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Mitigation in SOULPRINT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0" marB="0" anchor="ctr">
                    <a:lnL w="12700" cap="flat" cmpd="sng" algn="ctr">
                      <a:solidFill>
                        <a:srgbClr val="3A141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A141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A141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A141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E1016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EBD9C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False alarms on legit change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0" marB="0" anchor="ctr">
                    <a:lnL w="12700" cap="flat" cmpd="sng" algn="ctr">
                      <a:solidFill>
                        <a:srgbClr val="3A141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A141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A141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A141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0A0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EDE2D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Doppelgänger replay confirms the cause before any block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0" marB="0" anchor="ctr">
                    <a:lnL w="12700" cap="flat" cmpd="sng" algn="ctr">
                      <a:solidFill>
                        <a:srgbClr val="3A141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A141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A141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A141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0A0C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EBD9C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New / short-lived agents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0" marB="0" anchor="ctr">
                    <a:lnL w="12700" cap="flat" cmpd="sng" algn="ctr">
                      <a:solidFill>
                        <a:srgbClr val="3A141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A141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A141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A141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50D1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EDE2D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Role-cohort prior gives a baseline from minute zero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0" marB="0" anchor="ctr">
                    <a:lnL w="12700" cap="flat" cmpd="sng" algn="ctr">
                      <a:solidFill>
                        <a:srgbClr val="3A141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A141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A141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A141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50D10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EBD9C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Slow mimicry to evade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0" marB="0" anchor="ctr">
                    <a:lnL w="12700" cap="flat" cmpd="sng" algn="ctr">
                      <a:solidFill>
                        <a:srgbClr val="3A141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A141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A141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A141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0A0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EDE2D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CUSUM on long windows + hard contract floors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0" marB="0" anchor="ctr">
                    <a:lnL w="12700" cap="flat" cmpd="sng" algn="ctr">
                      <a:solidFill>
                        <a:srgbClr val="3A141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A141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A141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A141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0A0C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EBD9C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Privacy of agent data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0" marB="0" anchor="ctr">
                    <a:lnL w="12700" cap="flat" cmpd="sng" algn="ctr">
                      <a:solidFill>
                        <a:srgbClr val="3A141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A141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A141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A141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50D1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EDE2D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Hashed resource IDs, no prompt/response payloads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0" marB="0" anchor="ctr">
                    <a:lnL w="12700" cap="flat" cmpd="sng" algn="ctr">
                      <a:solidFill>
                        <a:srgbClr val="3A141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A141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A141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A141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50D1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2560320"/>
            <a:ext cx="6172200" cy="2148840"/>
          </a:xfrm>
          <a:prstGeom prst="roundRect">
            <a:avLst>
              <a:gd name="adj" fmla="val 5106"/>
            </a:avLst>
          </a:prstGeom>
          <a:solidFill>
            <a:srgbClr val="0E0506">
              <a:alpha val="90000"/>
            </a:srgbClr>
          </a:solidFill>
          <a:ln w="15875">
            <a:solidFill>
              <a:srgbClr val="4A4040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777240" y="2697480"/>
            <a:ext cx="5760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spc="100" kern="0" dirty="0">
                <a:solidFill>
                  <a:srgbClr val="BFA99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TODAY · IAM ASKS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777240" y="3063240"/>
            <a:ext cx="5760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i="1" dirty="0">
                <a:solidFill>
                  <a:srgbClr val="EBD9C6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“Is this identity allowed?”</a:t>
            </a:r>
            <a:endParaRPr lang="en-US" sz="2400" dirty="0"/>
          </a:p>
        </p:txBody>
      </p:sp>
      <p:sp>
        <p:nvSpPr>
          <p:cNvPr id="5" name="Text 3"/>
          <p:cNvSpPr txBox="1"/>
          <p:nvPr/>
        </p:nvSpPr>
        <p:spPr>
          <a:xfrm>
            <a:off x="777240" y="3703320"/>
            <a:ext cx="5760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EDE2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Hijacked agent = valid token = silent breach. Detected weeks later, if ever.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 rot="5400000">
            <a:off x="6903720" y="3401568"/>
            <a:ext cx="457200" cy="457200"/>
          </a:xfrm>
          <a:prstGeom prst="triangle">
            <a:avLst/>
          </a:prstGeom>
          <a:solidFill>
            <a:srgbClr val="E0262D"/>
          </a:solidFill>
          <a:ln w="12700">
            <a:solidFill>
              <a:srgbClr val="E0262D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589520" y="2560320"/>
            <a:ext cx="6172200" cy="2148840"/>
          </a:xfrm>
          <a:prstGeom prst="roundRect">
            <a:avLst>
              <a:gd name="adj" fmla="val 5106"/>
            </a:avLst>
          </a:prstGeom>
          <a:solidFill>
            <a:srgbClr val="1C0A0C">
              <a:alpha val="88000"/>
            </a:srgbClr>
          </a:solidFill>
          <a:ln w="25400">
            <a:solidFill>
              <a:srgbClr val="E0262D"/>
            </a:solidFill>
            <a:prstDash val="solid"/>
          </a:ln>
          <a:effectLst>
            <a:outerShdw sx="100000" sy="100000" kx="0" ky="0" algn="bl" rotWithShape="0" blurRad="203200" dist="50800" dir="16200000">
              <a:srgbClr val="E0262D">
                <a:alpha val="50000"/>
              </a:srgbClr>
            </a:outerShdw>
          </a:effectLst>
        </p:spPr>
      </p:sp>
      <p:sp>
        <p:nvSpPr>
          <p:cNvPr id="8" name="Text 6"/>
          <p:cNvSpPr txBox="1"/>
          <p:nvPr/>
        </p:nvSpPr>
        <p:spPr>
          <a:xfrm>
            <a:off x="7818120" y="2697480"/>
            <a:ext cx="5760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spc="100" kern="0" dirty="0">
                <a:solidFill>
                  <a:srgbClr val="E026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 SOULPRINT · WE ASK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7818120" y="3063240"/>
            <a:ext cx="5760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i="1" dirty="0">
                <a:solidFill>
                  <a:srgbClr val="FFFFFF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“Is this identity still itself?”</a:t>
            </a:r>
            <a:endParaRPr lang="en-US" sz="2400" dirty="0"/>
          </a:p>
        </p:txBody>
      </p:sp>
      <p:sp>
        <p:nvSpPr>
          <p:cNvPr id="10" name="Text 8"/>
          <p:cNvSpPr txBox="1"/>
          <p:nvPr/>
        </p:nvSpPr>
        <p:spPr>
          <a:xfrm>
            <a:off x="7818120" y="3703320"/>
            <a:ext cx="5760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EDE2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Possession caught in seconds, explained in plain words, contained without stopping honest work.</a:t>
            </a:r>
            <a:endParaRPr lang="en-US" sz="1800" dirty="0"/>
          </a:p>
        </p:txBody>
      </p:sp>
      <p:sp>
        <p:nvSpPr>
          <p:cNvPr id="11" name="Shape 9"/>
          <p:cNvSpPr/>
          <p:nvPr/>
        </p:nvSpPr>
        <p:spPr>
          <a:xfrm>
            <a:off x="548640" y="5029200"/>
            <a:ext cx="3218688" cy="4023360"/>
          </a:xfrm>
          <a:prstGeom prst="roundRect">
            <a:avLst>
              <a:gd name="adj" fmla="val 3409"/>
            </a:avLst>
          </a:prstGeom>
          <a:solidFill>
            <a:srgbClr val="1C0A0C">
              <a:alpha val="88000"/>
            </a:srgbClr>
          </a:solidFill>
          <a:ln w="15875">
            <a:solidFill>
              <a:srgbClr val="6A1D22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723644" y="5257800"/>
            <a:ext cx="868680" cy="868680"/>
          </a:xfrm>
          <a:prstGeom prst="ellipse">
            <a:avLst/>
          </a:prstGeom>
          <a:solidFill>
            <a:srgbClr val="2A0B0E"/>
          </a:solidFill>
          <a:ln w="25400">
            <a:solidFill>
              <a:srgbClr val="E0262D"/>
            </a:solidFill>
            <a:prstDash val="solid"/>
          </a:ln>
          <a:effectLst>
            <a:outerShdw sx="100000" sy="100000" kx="0" ky="0" algn="bl" rotWithShape="0" blurRad="152400" dist="50800" dir="16200000">
              <a:srgbClr val="E0262D">
                <a:alpha val="55000"/>
              </a:srgbClr>
            </a:outerShdw>
          </a:effectLst>
        </p:spPr>
      </p:sp>
      <p:pic>
        <p:nvPicPr>
          <p:cNvPr id="13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97380" y="5431536"/>
            <a:ext cx="521208" cy="521208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640080" y="6263640"/>
            <a:ext cx="30358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EBD9C6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Security teams</a:t>
            </a:r>
            <a:endParaRPr lang="en-US" sz="1800" dirty="0"/>
          </a:p>
        </p:txBody>
      </p:sp>
      <p:sp>
        <p:nvSpPr>
          <p:cNvPr id="15" name="Text 12"/>
          <p:cNvSpPr txBox="1"/>
          <p:nvPr/>
        </p:nvSpPr>
        <p:spPr>
          <a:xfrm>
            <a:off x="731520" y="6812280"/>
            <a:ext cx="2898648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EDE2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Closes the valid-credential blind spot</a:t>
            </a:r>
            <a:endParaRPr lang="en-US" sz="1600" dirty="0"/>
          </a:p>
          <a:p>
            <a:pPr marL="203200" indent="-2032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EDE2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Alerts explain themselves: faster triage</a:t>
            </a:r>
            <a:endParaRPr lang="en-US" sz="1600" dirty="0"/>
          </a:p>
          <a:p>
            <a:pPr marL="203200" indent="-2032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EDE2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Proof, not suspicion: twin names the culprit file</a:t>
            </a:r>
            <a:endParaRPr lang="en-US" sz="1600" dirty="0"/>
          </a:p>
        </p:txBody>
      </p:sp>
      <p:sp>
        <p:nvSpPr>
          <p:cNvPr id="16" name="Shape 13"/>
          <p:cNvSpPr/>
          <p:nvPr/>
        </p:nvSpPr>
        <p:spPr>
          <a:xfrm>
            <a:off x="4050792" y="5029200"/>
            <a:ext cx="3218688" cy="4023360"/>
          </a:xfrm>
          <a:prstGeom prst="roundRect">
            <a:avLst>
              <a:gd name="adj" fmla="val 3409"/>
            </a:avLst>
          </a:prstGeom>
          <a:solidFill>
            <a:srgbClr val="1C0A0C">
              <a:alpha val="88000"/>
            </a:srgbClr>
          </a:solidFill>
          <a:ln w="15875">
            <a:solidFill>
              <a:srgbClr val="6A1D22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5225796" y="5257800"/>
            <a:ext cx="868680" cy="868680"/>
          </a:xfrm>
          <a:prstGeom prst="ellipse">
            <a:avLst/>
          </a:prstGeom>
          <a:solidFill>
            <a:srgbClr val="2A0B0E"/>
          </a:solidFill>
          <a:ln w="25400">
            <a:solidFill>
              <a:srgbClr val="E0262D"/>
            </a:solidFill>
            <a:prstDash val="solid"/>
          </a:ln>
          <a:effectLst>
            <a:outerShdw sx="100000" sy="100000" kx="0" ky="0" algn="bl" rotWithShape="0" blurRad="152400" dist="50800" dir="16200000">
              <a:srgbClr val="E0262D">
                <a:alpha val="55000"/>
              </a:srgbClr>
            </a:outerShdw>
          </a:effectLst>
        </p:spPr>
      </p:sp>
      <p:pic>
        <p:nvPicPr>
          <p:cNvPr id="18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99532" y="5431536"/>
            <a:ext cx="521208" cy="521208"/>
          </a:xfrm>
          <a:prstGeom prst="rect">
            <a:avLst/>
          </a:prstGeom>
        </p:spPr>
      </p:pic>
      <p:sp>
        <p:nvSpPr>
          <p:cNvPr id="19" name="Text 15"/>
          <p:cNvSpPr txBox="1"/>
          <p:nvPr/>
        </p:nvSpPr>
        <p:spPr>
          <a:xfrm>
            <a:off x="4142232" y="6263640"/>
            <a:ext cx="30358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EBD9C6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Businesses</a:t>
            </a:r>
            <a:endParaRPr lang="en-US" sz="1800" dirty="0"/>
          </a:p>
        </p:txBody>
      </p:sp>
      <p:sp>
        <p:nvSpPr>
          <p:cNvPr id="20" name="Text 16"/>
          <p:cNvSpPr txBox="1"/>
          <p:nvPr/>
        </p:nvSpPr>
        <p:spPr>
          <a:xfrm>
            <a:off x="4233672" y="6812280"/>
            <a:ext cx="2898648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EDE2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Agents keep working: scope-shrink, not shutdown</a:t>
            </a:r>
            <a:endParaRPr lang="en-US" sz="1600" dirty="0"/>
          </a:p>
          <a:p>
            <a:pPr marL="203200" indent="-2032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EDE2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Confidence to give agents real autonomy</a:t>
            </a:r>
            <a:endParaRPr lang="en-US" sz="1600" dirty="0"/>
          </a:p>
          <a:p>
            <a:pPr marL="203200" indent="-2032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EDE2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Stops data leaks before exfiltration</a:t>
            </a:r>
            <a:endParaRPr lang="en-US" sz="1600" dirty="0"/>
          </a:p>
        </p:txBody>
      </p:sp>
      <p:sp>
        <p:nvSpPr>
          <p:cNvPr id="21" name="Shape 17"/>
          <p:cNvSpPr/>
          <p:nvPr/>
        </p:nvSpPr>
        <p:spPr>
          <a:xfrm>
            <a:off x="7552944" y="5029200"/>
            <a:ext cx="3218688" cy="4023360"/>
          </a:xfrm>
          <a:prstGeom prst="roundRect">
            <a:avLst>
              <a:gd name="adj" fmla="val 3409"/>
            </a:avLst>
          </a:prstGeom>
          <a:solidFill>
            <a:srgbClr val="1C0A0C">
              <a:alpha val="88000"/>
            </a:srgbClr>
          </a:solidFill>
          <a:ln w="15875">
            <a:solidFill>
              <a:srgbClr val="6A1D22"/>
            </a:solidFill>
            <a:prstDash val="solid"/>
          </a:ln>
        </p:spPr>
      </p:sp>
      <p:sp>
        <p:nvSpPr>
          <p:cNvPr id="22" name="Shape 18"/>
          <p:cNvSpPr/>
          <p:nvPr/>
        </p:nvSpPr>
        <p:spPr>
          <a:xfrm>
            <a:off x="8727948" y="5257800"/>
            <a:ext cx="868680" cy="868680"/>
          </a:xfrm>
          <a:prstGeom prst="ellipse">
            <a:avLst/>
          </a:prstGeom>
          <a:solidFill>
            <a:srgbClr val="2A0B0E"/>
          </a:solidFill>
          <a:ln w="25400">
            <a:solidFill>
              <a:srgbClr val="E0262D"/>
            </a:solidFill>
            <a:prstDash val="solid"/>
          </a:ln>
          <a:effectLst>
            <a:outerShdw sx="100000" sy="100000" kx="0" ky="0" algn="bl" rotWithShape="0" blurRad="152400" dist="50800" dir="16200000">
              <a:srgbClr val="E0262D">
                <a:alpha val="55000"/>
              </a:srgbClr>
            </a:outerShdw>
          </a:effectLst>
        </p:spPr>
      </p:sp>
      <p:pic>
        <p:nvPicPr>
          <p:cNvPr id="23" name="Image 2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901684" y="5431536"/>
            <a:ext cx="521208" cy="521208"/>
          </a:xfrm>
          <a:prstGeom prst="rect">
            <a:avLst/>
          </a:prstGeom>
        </p:spPr>
      </p:pic>
      <p:sp>
        <p:nvSpPr>
          <p:cNvPr id="24" name="Text 19"/>
          <p:cNvSpPr txBox="1"/>
          <p:nvPr/>
        </p:nvSpPr>
        <p:spPr>
          <a:xfrm>
            <a:off x="7644384" y="6263640"/>
            <a:ext cx="30358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EBD9C6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Compliance &amp; audit</a:t>
            </a:r>
            <a:endParaRPr lang="en-US" sz="1800" dirty="0"/>
          </a:p>
        </p:txBody>
      </p:sp>
      <p:sp>
        <p:nvSpPr>
          <p:cNvPr id="25" name="Text 20"/>
          <p:cNvSpPr txBox="1"/>
          <p:nvPr/>
        </p:nvSpPr>
        <p:spPr>
          <a:xfrm>
            <a:off x="7735824" y="6812280"/>
            <a:ext cx="2898648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EDE2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Per-action audit trail for every agent</a:t>
            </a:r>
            <a:endParaRPr lang="en-US" sz="1600" dirty="0"/>
          </a:p>
          <a:p>
            <a:pPr marL="203200" indent="-2032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EDE2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Maps to India DPDP Act 2023, EU AI Act</a:t>
            </a:r>
            <a:endParaRPr lang="en-US" sz="1600" dirty="0"/>
          </a:p>
          <a:p>
            <a:pPr marL="203200" indent="-2032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EDE2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Supports ISO/IEC 42001 &amp; NIST AI RMF</a:t>
            </a:r>
            <a:endParaRPr lang="en-US" sz="1600" dirty="0"/>
          </a:p>
        </p:txBody>
      </p:sp>
      <p:sp>
        <p:nvSpPr>
          <p:cNvPr id="26" name="Shape 21"/>
          <p:cNvSpPr/>
          <p:nvPr/>
        </p:nvSpPr>
        <p:spPr>
          <a:xfrm>
            <a:off x="11055096" y="5029200"/>
            <a:ext cx="3218688" cy="4023360"/>
          </a:xfrm>
          <a:prstGeom prst="roundRect">
            <a:avLst>
              <a:gd name="adj" fmla="val 3409"/>
            </a:avLst>
          </a:prstGeom>
          <a:solidFill>
            <a:srgbClr val="1C0A0C">
              <a:alpha val="88000"/>
            </a:srgbClr>
          </a:solidFill>
          <a:ln w="15875">
            <a:solidFill>
              <a:srgbClr val="6A1D22"/>
            </a:solidFill>
            <a:prstDash val="solid"/>
          </a:ln>
        </p:spPr>
      </p:sp>
      <p:sp>
        <p:nvSpPr>
          <p:cNvPr id="27" name="Shape 22"/>
          <p:cNvSpPr/>
          <p:nvPr/>
        </p:nvSpPr>
        <p:spPr>
          <a:xfrm>
            <a:off x="12230100" y="5257800"/>
            <a:ext cx="868680" cy="868680"/>
          </a:xfrm>
          <a:prstGeom prst="ellipse">
            <a:avLst/>
          </a:prstGeom>
          <a:solidFill>
            <a:srgbClr val="2A0B0E"/>
          </a:solidFill>
          <a:ln w="25400">
            <a:solidFill>
              <a:srgbClr val="E0262D"/>
            </a:solidFill>
            <a:prstDash val="solid"/>
          </a:ln>
          <a:effectLst>
            <a:outerShdw sx="100000" sy="100000" kx="0" ky="0" algn="bl" rotWithShape="0" blurRad="152400" dist="50800" dir="16200000">
              <a:srgbClr val="E0262D">
                <a:alpha val="55000"/>
              </a:srgbClr>
            </a:outerShdw>
          </a:effectLst>
        </p:spPr>
      </p:sp>
      <p:pic>
        <p:nvPicPr>
          <p:cNvPr id="28" name="Image 3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2403836" y="5431536"/>
            <a:ext cx="521208" cy="521208"/>
          </a:xfrm>
          <a:prstGeom prst="rect">
            <a:avLst/>
          </a:prstGeom>
        </p:spPr>
      </p:pic>
      <p:sp>
        <p:nvSpPr>
          <p:cNvPr id="29" name="Text 23"/>
          <p:cNvSpPr txBox="1"/>
          <p:nvPr/>
        </p:nvSpPr>
        <p:spPr>
          <a:xfrm>
            <a:off x="11146536" y="6263640"/>
            <a:ext cx="30358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EBD9C6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Ecosystem</a:t>
            </a:r>
            <a:endParaRPr lang="en-US" sz="1800" dirty="0"/>
          </a:p>
        </p:txBody>
      </p:sp>
      <p:sp>
        <p:nvSpPr>
          <p:cNvPr id="30" name="Text 24"/>
          <p:cNvSpPr txBox="1"/>
          <p:nvPr/>
        </p:nvSpPr>
        <p:spPr>
          <a:xfrm>
            <a:off x="11237976" y="6812280"/>
            <a:ext cx="2898648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EDE2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Safer adoption of agentic AI at scale</a:t>
            </a:r>
            <a:endParaRPr lang="en-US" sz="1600" dirty="0"/>
          </a:p>
          <a:p>
            <a:pPr marL="203200" indent="-2032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EDE2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Shareable “possession signatures”</a:t>
            </a:r>
            <a:endParaRPr lang="en-US" sz="1600" dirty="0"/>
          </a:p>
          <a:p>
            <a:pPr marL="203200" indent="-2032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EDE2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Framework-agnostic, open-core SDK</a:t>
            </a:r>
            <a:endParaRPr lang="en-US" sz="16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560320"/>
            <a:ext cx="8778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E0262D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WHAT MAKES SOULPRINT DIFFERENT</a:t>
            </a:r>
            <a:endParaRPr lang="en-US" sz="1800" dirty="0"/>
          </a:p>
        </p:txBody>
      </p:sp>
      <p:sp>
        <p:nvSpPr>
          <p:cNvPr id="3" name="Shape 1"/>
          <p:cNvSpPr/>
          <p:nvPr/>
        </p:nvSpPr>
        <p:spPr>
          <a:xfrm>
            <a:off x="548640" y="3063240"/>
            <a:ext cx="8869680" cy="1170432"/>
          </a:xfrm>
          <a:prstGeom prst="roundRect">
            <a:avLst>
              <a:gd name="adj" fmla="val 9375"/>
            </a:avLst>
          </a:prstGeom>
          <a:solidFill>
            <a:srgbClr val="1C0A0C">
              <a:alpha val="88000"/>
            </a:srgbClr>
          </a:solidFill>
          <a:ln w="25400">
            <a:solidFill>
              <a:srgbClr val="E0262D"/>
            </a:solidFill>
            <a:prstDash val="solid"/>
          </a:ln>
          <a:effectLst>
            <a:outerShdw sx="100000" sy="100000" kx="0" ky="0" algn="bl" rotWithShape="0" blurRad="177800" dist="50800" dir="16200000">
              <a:srgbClr val="E0262D">
                <a:alpha val="60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7818120" y="3191256"/>
            <a:ext cx="1463040" cy="310896"/>
          </a:xfrm>
          <a:prstGeom prst="roundRect">
            <a:avLst>
              <a:gd name="adj" fmla="val 23529"/>
            </a:avLst>
          </a:prstGeom>
          <a:solidFill>
            <a:srgbClr val="E0262D"/>
          </a:solidFill>
          <a:ln w="12700">
            <a:solidFill>
              <a:srgbClr val="E0262D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818120" y="3191256"/>
            <a:ext cx="1463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ONLY IN SOULPRINT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713232" y="3246120"/>
            <a:ext cx="804672" cy="804672"/>
          </a:xfrm>
          <a:prstGeom prst="ellipse">
            <a:avLst/>
          </a:prstGeom>
          <a:solidFill>
            <a:srgbClr val="2A0B0E"/>
          </a:solidFill>
          <a:ln w="25400">
            <a:solidFill>
              <a:srgbClr val="E0262D"/>
            </a:solidFill>
            <a:prstDash val="solid"/>
          </a:ln>
          <a:effectLst>
            <a:outerShdw sx="100000" sy="100000" kx="0" ky="0" algn="bl" rotWithShape="0" blurRad="152400" dist="50800" dir="16200000">
              <a:srgbClr val="E0262D">
                <a:alpha val="55000"/>
              </a:srgbClr>
            </a:outerShdw>
          </a:effectLst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4166" y="3407054"/>
            <a:ext cx="482803" cy="482803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1691640" y="3191256"/>
            <a:ext cx="6035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EBD9C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Doppelgänger Test: proof, not suspicion</a:t>
            </a:r>
            <a:endParaRPr lang="en-US" sz="1700" dirty="0"/>
          </a:p>
        </p:txBody>
      </p:sp>
      <p:sp>
        <p:nvSpPr>
          <p:cNvPr id="9" name="Text 6"/>
          <p:cNvSpPr txBox="1"/>
          <p:nvPr/>
        </p:nvSpPr>
        <p:spPr>
          <a:xfrm>
            <a:off x="1691640" y="3575304"/>
            <a:ext cx="75895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dirty="0">
                <a:solidFill>
                  <a:srgbClr val="EDE2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sandboxed twin replays the task without the untrusted input. Divergence proves the injection and names the culprit file.</a:t>
            </a:r>
            <a:endParaRPr lang="en-US" sz="1450" dirty="0"/>
          </a:p>
        </p:txBody>
      </p:sp>
      <p:sp>
        <p:nvSpPr>
          <p:cNvPr id="10" name="Shape 7"/>
          <p:cNvSpPr/>
          <p:nvPr/>
        </p:nvSpPr>
        <p:spPr>
          <a:xfrm>
            <a:off x="548640" y="4379976"/>
            <a:ext cx="8869680" cy="1170432"/>
          </a:xfrm>
          <a:prstGeom prst="roundRect">
            <a:avLst>
              <a:gd name="adj" fmla="val 9375"/>
            </a:avLst>
          </a:prstGeom>
          <a:solidFill>
            <a:srgbClr val="1C0A0C">
              <a:alpha val="88000"/>
            </a:srgbClr>
          </a:solidFill>
          <a:ln w="25400">
            <a:solidFill>
              <a:srgbClr val="E0262D"/>
            </a:solidFill>
            <a:prstDash val="solid"/>
          </a:ln>
          <a:effectLst>
            <a:outerShdw sx="100000" sy="100000" kx="0" ky="0" algn="bl" rotWithShape="0" blurRad="177800" dist="50800" dir="16200000">
              <a:srgbClr val="E0262D">
                <a:alpha val="6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7818120" y="4507992"/>
            <a:ext cx="1463040" cy="310896"/>
          </a:xfrm>
          <a:prstGeom prst="roundRect">
            <a:avLst>
              <a:gd name="adj" fmla="val 23529"/>
            </a:avLst>
          </a:prstGeom>
          <a:solidFill>
            <a:srgbClr val="E0262D"/>
          </a:solidFill>
          <a:ln w="12700">
            <a:solidFill>
              <a:srgbClr val="E0262D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7818120" y="4507992"/>
            <a:ext cx="1463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ONLY IN SOULPRINT</a:t>
            </a:r>
            <a:endParaRPr lang="en-US" sz="1000" dirty="0"/>
          </a:p>
        </p:txBody>
      </p:sp>
      <p:sp>
        <p:nvSpPr>
          <p:cNvPr id="13" name="Shape 10"/>
          <p:cNvSpPr/>
          <p:nvPr/>
        </p:nvSpPr>
        <p:spPr>
          <a:xfrm>
            <a:off x="713232" y="4562856"/>
            <a:ext cx="804672" cy="804672"/>
          </a:xfrm>
          <a:prstGeom prst="ellipse">
            <a:avLst/>
          </a:prstGeom>
          <a:solidFill>
            <a:srgbClr val="2A0B0E"/>
          </a:solidFill>
          <a:ln w="25400">
            <a:solidFill>
              <a:srgbClr val="E0262D"/>
            </a:solidFill>
            <a:prstDash val="solid"/>
          </a:ln>
          <a:effectLst>
            <a:outerShdw sx="100000" sy="100000" kx="0" ky="0" algn="bl" rotWithShape="0" blurRad="152400" dist="50800" dir="16200000">
              <a:srgbClr val="E0262D">
                <a:alpha val="55000"/>
              </a:srgbClr>
            </a:outerShdw>
          </a:effectLst>
        </p:spPr>
      </p:sp>
      <p:pic>
        <p:nvPicPr>
          <p:cNvPr id="14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74166" y="4723790"/>
            <a:ext cx="482803" cy="482803"/>
          </a:xfrm>
          <a:prstGeom prst="rect">
            <a:avLst/>
          </a:prstGeom>
        </p:spPr>
      </p:pic>
      <p:sp>
        <p:nvSpPr>
          <p:cNvPr id="15" name="Text 11"/>
          <p:cNvSpPr txBox="1"/>
          <p:nvPr/>
        </p:nvSpPr>
        <p:spPr>
          <a:xfrm>
            <a:off x="1691640" y="4507992"/>
            <a:ext cx="6035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EBD9C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Role-shaped D3COY baits</a:t>
            </a:r>
            <a:endParaRPr lang="en-US" sz="1700" dirty="0"/>
          </a:p>
        </p:txBody>
      </p:sp>
      <p:sp>
        <p:nvSpPr>
          <p:cNvPr id="16" name="Text 12"/>
          <p:cNvSpPr txBox="1"/>
          <p:nvPr/>
        </p:nvSpPr>
        <p:spPr>
          <a:xfrm>
            <a:off x="1691640" y="4892040"/>
            <a:ext cx="75895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dirty="0">
                <a:solidFill>
                  <a:srgbClr val="EDE2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Decoy files and keys planted per role that only a possessed agent would touch: alarms with near-zero doubt.</a:t>
            </a:r>
            <a:endParaRPr lang="en-US" sz="1450" dirty="0"/>
          </a:p>
        </p:txBody>
      </p:sp>
      <p:sp>
        <p:nvSpPr>
          <p:cNvPr id="17" name="Shape 13"/>
          <p:cNvSpPr/>
          <p:nvPr/>
        </p:nvSpPr>
        <p:spPr>
          <a:xfrm>
            <a:off x="548640" y="5696712"/>
            <a:ext cx="8869680" cy="1170432"/>
          </a:xfrm>
          <a:prstGeom prst="roundRect">
            <a:avLst>
              <a:gd name="adj" fmla="val 9375"/>
            </a:avLst>
          </a:prstGeom>
          <a:solidFill>
            <a:srgbClr val="1C0A0C">
              <a:alpha val="88000"/>
            </a:srgbClr>
          </a:solidFill>
          <a:ln w="15875">
            <a:solidFill>
              <a:srgbClr val="6A1D22"/>
            </a:solidFill>
            <a:prstDash val="solid"/>
          </a:ln>
        </p:spPr>
      </p:sp>
      <p:sp>
        <p:nvSpPr>
          <p:cNvPr id="18" name="Shape 14"/>
          <p:cNvSpPr/>
          <p:nvPr/>
        </p:nvSpPr>
        <p:spPr>
          <a:xfrm>
            <a:off x="713232" y="5879592"/>
            <a:ext cx="804672" cy="804672"/>
          </a:xfrm>
          <a:prstGeom prst="ellipse">
            <a:avLst/>
          </a:prstGeom>
          <a:solidFill>
            <a:srgbClr val="2A0B0E"/>
          </a:solidFill>
          <a:ln w="25400">
            <a:solidFill>
              <a:srgbClr val="E0262D"/>
            </a:solidFill>
            <a:prstDash val="solid"/>
          </a:ln>
          <a:effectLst>
            <a:outerShdw sx="100000" sy="100000" kx="0" ky="0" algn="bl" rotWithShape="0" blurRad="152400" dist="50800" dir="16200000">
              <a:srgbClr val="E0262D">
                <a:alpha val="55000"/>
              </a:srgbClr>
            </a:outerShdw>
          </a:effectLst>
        </p:spPr>
      </p:sp>
      <p:pic>
        <p:nvPicPr>
          <p:cNvPr id="19" name="Image 2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74166" y="6040526"/>
            <a:ext cx="482803" cy="482803"/>
          </a:xfrm>
          <a:prstGeom prst="rect">
            <a:avLst/>
          </a:prstGeom>
        </p:spPr>
      </p:pic>
      <p:sp>
        <p:nvSpPr>
          <p:cNvPr id="20" name="Text 15"/>
          <p:cNvSpPr txBox="1"/>
          <p:nvPr/>
        </p:nvSpPr>
        <p:spPr>
          <a:xfrm>
            <a:off x="1691640" y="5824728"/>
            <a:ext cx="7589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EBD9C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Role-aware with root cause</a:t>
            </a:r>
            <a:endParaRPr lang="en-US" sz="1700" dirty="0"/>
          </a:p>
        </p:txBody>
      </p:sp>
      <p:sp>
        <p:nvSpPr>
          <p:cNvPr id="21" name="Text 16"/>
          <p:cNvSpPr txBox="1"/>
          <p:nvPr/>
        </p:nvSpPr>
        <p:spPr>
          <a:xfrm>
            <a:off x="1691640" y="6208776"/>
            <a:ext cx="75895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dirty="0">
                <a:solidFill>
                  <a:srgbClr val="EDE2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Judged against declared purpose; provenance taint links the poisoned input to the bad action.</a:t>
            </a:r>
            <a:endParaRPr lang="en-US" sz="1450" dirty="0"/>
          </a:p>
        </p:txBody>
      </p:sp>
      <p:sp>
        <p:nvSpPr>
          <p:cNvPr id="22" name="Shape 17"/>
          <p:cNvSpPr/>
          <p:nvPr/>
        </p:nvSpPr>
        <p:spPr>
          <a:xfrm>
            <a:off x="548640" y="7013448"/>
            <a:ext cx="8869680" cy="1170432"/>
          </a:xfrm>
          <a:prstGeom prst="roundRect">
            <a:avLst>
              <a:gd name="adj" fmla="val 9375"/>
            </a:avLst>
          </a:prstGeom>
          <a:solidFill>
            <a:srgbClr val="1C0A0C">
              <a:alpha val="88000"/>
            </a:srgbClr>
          </a:solidFill>
          <a:ln w="15875">
            <a:solidFill>
              <a:srgbClr val="6A1D22"/>
            </a:solidFill>
            <a:prstDash val="solid"/>
          </a:ln>
        </p:spPr>
      </p:sp>
      <p:sp>
        <p:nvSpPr>
          <p:cNvPr id="23" name="Shape 18"/>
          <p:cNvSpPr/>
          <p:nvPr/>
        </p:nvSpPr>
        <p:spPr>
          <a:xfrm>
            <a:off x="713232" y="7196328"/>
            <a:ext cx="804672" cy="804672"/>
          </a:xfrm>
          <a:prstGeom prst="ellipse">
            <a:avLst/>
          </a:prstGeom>
          <a:solidFill>
            <a:srgbClr val="2A0B0E"/>
          </a:solidFill>
          <a:ln w="25400">
            <a:solidFill>
              <a:srgbClr val="E0262D"/>
            </a:solidFill>
            <a:prstDash val="solid"/>
          </a:ln>
          <a:effectLst>
            <a:outerShdw sx="100000" sy="100000" kx="0" ky="0" algn="bl" rotWithShape="0" blurRad="152400" dist="50800" dir="16200000">
              <a:srgbClr val="E0262D">
                <a:alpha val="55000"/>
              </a:srgbClr>
            </a:outerShdw>
          </a:effectLst>
        </p:spPr>
      </p:sp>
      <p:pic>
        <p:nvPicPr>
          <p:cNvPr id="24" name="Image 3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74166" y="7357262"/>
            <a:ext cx="482803" cy="482803"/>
          </a:xfrm>
          <a:prstGeom prst="rect">
            <a:avLst/>
          </a:prstGeom>
        </p:spPr>
      </p:pic>
      <p:sp>
        <p:nvSpPr>
          <p:cNvPr id="25" name="Text 19"/>
          <p:cNvSpPr txBox="1"/>
          <p:nvPr/>
        </p:nvSpPr>
        <p:spPr>
          <a:xfrm>
            <a:off x="1691640" y="7141464"/>
            <a:ext cx="7589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EBD9C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Minute-zero &amp; chain-aware</a:t>
            </a:r>
            <a:endParaRPr lang="en-US" sz="1700" dirty="0"/>
          </a:p>
        </p:txBody>
      </p:sp>
      <p:sp>
        <p:nvSpPr>
          <p:cNvPr id="26" name="Text 20"/>
          <p:cNvSpPr txBox="1"/>
          <p:nvPr/>
        </p:nvSpPr>
        <p:spPr>
          <a:xfrm>
            <a:off x="1691640" y="7525512"/>
            <a:ext cx="75895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dirty="0">
                <a:solidFill>
                  <a:srgbClr val="EDE2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Role-cohort priors for new agents; risk flows along agent-to-agent delegation.</a:t>
            </a:r>
            <a:endParaRPr lang="en-US" sz="1450" dirty="0"/>
          </a:p>
        </p:txBody>
      </p:sp>
      <p:sp>
        <p:nvSpPr>
          <p:cNvPr id="27" name="Shape 21"/>
          <p:cNvSpPr/>
          <p:nvPr/>
        </p:nvSpPr>
        <p:spPr>
          <a:xfrm>
            <a:off x="548640" y="8330184"/>
            <a:ext cx="8869680" cy="1170432"/>
          </a:xfrm>
          <a:prstGeom prst="roundRect">
            <a:avLst>
              <a:gd name="adj" fmla="val 9375"/>
            </a:avLst>
          </a:prstGeom>
          <a:solidFill>
            <a:srgbClr val="1C0A0C">
              <a:alpha val="88000"/>
            </a:srgbClr>
          </a:solidFill>
          <a:ln w="15875">
            <a:solidFill>
              <a:srgbClr val="6A1D22"/>
            </a:solidFill>
            <a:prstDash val="solid"/>
          </a:ln>
        </p:spPr>
      </p:sp>
      <p:sp>
        <p:nvSpPr>
          <p:cNvPr id="28" name="Shape 22"/>
          <p:cNvSpPr/>
          <p:nvPr/>
        </p:nvSpPr>
        <p:spPr>
          <a:xfrm>
            <a:off x="713232" y="8513064"/>
            <a:ext cx="804672" cy="804672"/>
          </a:xfrm>
          <a:prstGeom prst="ellipse">
            <a:avLst/>
          </a:prstGeom>
          <a:solidFill>
            <a:srgbClr val="2A0B0E"/>
          </a:solidFill>
          <a:ln w="25400">
            <a:solidFill>
              <a:srgbClr val="E0262D"/>
            </a:solidFill>
            <a:prstDash val="solid"/>
          </a:ln>
          <a:effectLst>
            <a:outerShdw sx="100000" sy="100000" kx="0" ky="0" algn="bl" rotWithShape="0" blurRad="152400" dist="50800" dir="16200000">
              <a:srgbClr val="E0262D">
                <a:alpha val="55000"/>
              </a:srgbClr>
            </a:outerShdw>
          </a:effectLst>
        </p:spPr>
      </p:sp>
      <p:pic>
        <p:nvPicPr>
          <p:cNvPr id="29" name="Image 4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74166" y="8673998"/>
            <a:ext cx="482803" cy="482803"/>
          </a:xfrm>
          <a:prstGeom prst="rect">
            <a:avLst/>
          </a:prstGeom>
        </p:spPr>
      </p:pic>
      <p:sp>
        <p:nvSpPr>
          <p:cNvPr id="30" name="Text 23"/>
          <p:cNvSpPr txBox="1"/>
          <p:nvPr/>
        </p:nvSpPr>
        <p:spPr>
          <a:xfrm>
            <a:off x="1691640" y="8458200"/>
            <a:ext cx="7589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EBD9C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Explain, then exorcise gently</a:t>
            </a:r>
            <a:endParaRPr lang="en-US" sz="1700" dirty="0"/>
          </a:p>
        </p:txBody>
      </p:sp>
      <p:sp>
        <p:nvSpPr>
          <p:cNvPr id="31" name="Text 24"/>
          <p:cNvSpPr txBox="1"/>
          <p:nvPr/>
        </p:nvSpPr>
        <p:spPr>
          <a:xfrm>
            <a:off x="1691640" y="8842248"/>
            <a:ext cx="75895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dirty="0">
                <a:solidFill>
                  <a:srgbClr val="EDE2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score has reasons; containment is graduated, so legit work continues.</a:t>
            </a:r>
            <a:endParaRPr lang="en-US" sz="1450" dirty="0"/>
          </a:p>
        </p:txBody>
      </p:sp>
      <p:sp>
        <p:nvSpPr>
          <p:cNvPr id="32" name="Shape 25"/>
          <p:cNvSpPr/>
          <p:nvPr/>
        </p:nvSpPr>
        <p:spPr>
          <a:xfrm>
            <a:off x="13761720" y="2487168"/>
            <a:ext cx="3246120" cy="502920"/>
          </a:xfrm>
          <a:prstGeom prst="roundRect">
            <a:avLst>
              <a:gd name="adj" fmla="val 18182"/>
            </a:avLst>
          </a:prstGeom>
          <a:solidFill>
            <a:srgbClr val="0E0506">
              <a:alpha val="80000"/>
            </a:srgbClr>
          </a:solidFill>
          <a:ln w="12700">
            <a:solidFill>
              <a:srgbClr val="E0262D"/>
            </a:solidFill>
            <a:prstDash val="solid"/>
          </a:ln>
        </p:spPr>
      </p:sp>
      <p:sp>
        <p:nvSpPr>
          <p:cNvPr id="33" name="Text 26"/>
          <p:cNvSpPr txBox="1"/>
          <p:nvPr/>
        </p:nvSpPr>
        <p:spPr>
          <a:xfrm>
            <a:off x="13761720" y="2487168"/>
            <a:ext cx="3246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E0262D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THE ROAD AHEAD</a:t>
            </a:r>
            <a:endParaRPr lang="en-US" sz="1800" dirty="0"/>
          </a:p>
        </p:txBody>
      </p:sp>
      <p:sp>
        <p:nvSpPr>
          <p:cNvPr id="34" name="Shape 27"/>
          <p:cNvSpPr/>
          <p:nvPr/>
        </p:nvSpPr>
        <p:spPr>
          <a:xfrm>
            <a:off x="13368528" y="3108960"/>
            <a:ext cx="0" cy="6400800"/>
          </a:xfrm>
          <a:prstGeom prst="line">
            <a:avLst/>
          </a:prstGeom>
          <a:noFill/>
          <a:ln w="31750">
            <a:solidFill>
              <a:srgbClr val="E0262D"/>
            </a:solidFill>
            <a:prstDash val="dash"/>
          </a:ln>
        </p:spPr>
      </p:sp>
      <p:sp>
        <p:nvSpPr>
          <p:cNvPr id="35" name="Shape 28"/>
          <p:cNvSpPr/>
          <p:nvPr/>
        </p:nvSpPr>
        <p:spPr>
          <a:xfrm>
            <a:off x="13213080" y="3566160"/>
            <a:ext cx="310896" cy="310896"/>
          </a:xfrm>
          <a:prstGeom prst="ellipse">
            <a:avLst/>
          </a:prstGeom>
          <a:solidFill>
            <a:srgbClr val="E0262D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177800" dist="50800" dir="16200000">
              <a:srgbClr val="E0262D">
                <a:alpha val="90000"/>
              </a:srgbClr>
            </a:outerShdw>
          </a:effectLst>
        </p:spPr>
      </p:sp>
      <p:sp>
        <p:nvSpPr>
          <p:cNvPr id="36" name="Shape 29"/>
          <p:cNvSpPr/>
          <p:nvPr/>
        </p:nvSpPr>
        <p:spPr>
          <a:xfrm>
            <a:off x="9829800" y="3063240"/>
            <a:ext cx="3246120" cy="1417320"/>
          </a:xfrm>
          <a:prstGeom prst="roundRect">
            <a:avLst>
              <a:gd name="adj" fmla="val 7742"/>
            </a:avLst>
          </a:prstGeom>
          <a:solidFill>
            <a:srgbClr val="0E0506">
              <a:alpha val="82000"/>
            </a:srgbClr>
          </a:solidFill>
          <a:ln w="15875">
            <a:solidFill>
              <a:srgbClr val="E0262D"/>
            </a:solidFill>
            <a:prstDash val="solid"/>
          </a:ln>
        </p:spPr>
      </p:sp>
      <p:sp>
        <p:nvSpPr>
          <p:cNvPr id="37" name="Text 30"/>
          <p:cNvSpPr txBox="1"/>
          <p:nvPr/>
        </p:nvSpPr>
        <p:spPr>
          <a:xfrm>
            <a:off x="9994392" y="3172968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spc="100" kern="0" dirty="0">
                <a:solidFill>
                  <a:srgbClr val="E026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</a:t>
            </a:r>
            <a:endParaRPr lang="en-US" sz="1250" dirty="0"/>
          </a:p>
        </p:txBody>
      </p:sp>
      <p:sp>
        <p:nvSpPr>
          <p:cNvPr id="38" name="Text 31"/>
          <p:cNvSpPr txBox="1"/>
          <p:nvPr/>
        </p:nvSpPr>
        <p:spPr>
          <a:xfrm>
            <a:off x="9994392" y="3447288"/>
            <a:ext cx="2971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Hackathon MVP</a:t>
            </a:r>
            <a:endParaRPr lang="en-US" sz="1600" dirty="0"/>
          </a:p>
        </p:txBody>
      </p:sp>
      <p:sp>
        <p:nvSpPr>
          <p:cNvPr id="39" name="Text 32"/>
          <p:cNvSpPr txBox="1"/>
          <p:nvPr/>
        </p:nvSpPr>
        <p:spPr>
          <a:xfrm>
            <a:off x="9994392" y="3813048"/>
            <a:ext cx="29718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EDE2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Gateway, 5 detectors, Doppelgänger twin, decoys, live console</a:t>
            </a:r>
            <a:endParaRPr lang="en-US" sz="1350" dirty="0"/>
          </a:p>
        </p:txBody>
      </p:sp>
      <p:sp>
        <p:nvSpPr>
          <p:cNvPr id="40" name="Shape 33"/>
          <p:cNvSpPr/>
          <p:nvPr/>
        </p:nvSpPr>
        <p:spPr>
          <a:xfrm>
            <a:off x="13213080" y="5212080"/>
            <a:ext cx="310896" cy="310896"/>
          </a:xfrm>
          <a:prstGeom prst="ellipse">
            <a:avLst/>
          </a:prstGeom>
          <a:solidFill>
            <a:srgbClr val="E0262D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177800" dist="50800" dir="16200000">
              <a:srgbClr val="E0262D">
                <a:alpha val="90000"/>
              </a:srgbClr>
            </a:outerShdw>
          </a:effectLst>
        </p:spPr>
      </p:sp>
      <p:sp>
        <p:nvSpPr>
          <p:cNvPr id="41" name="Shape 34"/>
          <p:cNvSpPr/>
          <p:nvPr/>
        </p:nvSpPr>
        <p:spPr>
          <a:xfrm>
            <a:off x="13761720" y="4709160"/>
            <a:ext cx="3246120" cy="1417320"/>
          </a:xfrm>
          <a:prstGeom prst="roundRect">
            <a:avLst>
              <a:gd name="adj" fmla="val 7742"/>
            </a:avLst>
          </a:prstGeom>
          <a:solidFill>
            <a:srgbClr val="0E0506">
              <a:alpha val="82000"/>
            </a:srgbClr>
          </a:solidFill>
          <a:ln w="15875">
            <a:solidFill>
              <a:srgbClr val="E0262D"/>
            </a:solidFill>
            <a:prstDash val="solid"/>
          </a:ln>
        </p:spPr>
      </p:sp>
      <p:sp>
        <p:nvSpPr>
          <p:cNvPr id="42" name="Text 35"/>
          <p:cNvSpPr txBox="1"/>
          <p:nvPr/>
        </p:nvSpPr>
        <p:spPr>
          <a:xfrm>
            <a:off x="13926312" y="4818888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spc="100" kern="0" dirty="0">
                <a:solidFill>
                  <a:srgbClr val="E026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MONTHS</a:t>
            </a:r>
            <a:endParaRPr lang="en-US" sz="1250" dirty="0"/>
          </a:p>
        </p:txBody>
      </p:sp>
      <p:sp>
        <p:nvSpPr>
          <p:cNvPr id="43" name="Text 36"/>
          <p:cNvSpPr txBox="1"/>
          <p:nvPr/>
        </p:nvSpPr>
        <p:spPr>
          <a:xfrm>
            <a:off x="13926312" y="5093208"/>
            <a:ext cx="2971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Plug &amp; play</a:t>
            </a:r>
            <a:endParaRPr lang="en-US" sz="1600" dirty="0"/>
          </a:p>
        </p:txBody>
      </p:sp>
      <p:sp>
        <p:nvSpPr>
          <p:cNvPr id="44" name="Text 37"/>
          <p:cNvSpPr txBox="1"/>
          <p:nvPr/>
        </p:nvSpPr>
        <p:spPr>
          <a:xfrm>
            <a:off x="13926312" y="5458968"/>
            <a:ext cx="29718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EDE2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LangChain / CrewAI / MCP plug-ins; Splunk &amp; Sentinel export</a:t>
            </a:r>
            <a:endParaRPr lang="en-US" sz="1350" dirty="0"/>
          </a:p>
        </p:txBody>
      </p:sp>
      <p:sp>
        <p:nvSpPr>
          <p:cNvPr id="45" name="Shape 38"/>
          <p:cNvSpPr/>
          <p:nvPr/>
        </p:nvSpPr>
        <p:spPr>
          <a:xfrm>
            <a:off x="13213080" y="6858000"/>
            <a:ext cx="310896" cy="310896"/>
          </a:xfrm>
          <a:prstGeom prst="ellipse">
            <a:avLst/>
          </a:prstGeom>
          <a:solidFill>
            <a:srgbClr val="E0262D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177800" dist="50800" dir="16200000">
              <a:srgbClr val="E0262D">
                <a:alpha val="90000"/>
              </a:srgbClr>
            </a:outerShdw>
          </a:effectLst>
        </p:spPr>
      </p:sp>
      <p:sp>
        <p:nvSpPr>
          <p:cNvPr id="46" name="Shape 39"/>
          <p:cNvSpPr/>
          <p:nvPr/>
        </p:nvSpPr>
        <p:spPr>
          <a:xfrm>
            <a:off x="9829800" y="6355080"/>
            <a:ext cx="3246120" cy="1417320"/>
          </a:xfrm>
          <a:prstGeom prst="roundRect">
            <a:avLst>
              <a:gd name="adj" fmla="val 7742"/>
            </a:avLst>
          </a:prstGeom>
          <a:solidFill>
            <a:srgbClr val="0E0506">
              <a:alpha val="82000"/>
            </a:srgbClr>
          </a:solidFill>
          <a:ln w="15875">
            <a:solidFill>
              <a:srgbClr val="E0262D"/>
            </a:solidFill>
            <a:prstDash val="solid"/>
          </a:ln>
        </p:spPr>
      </p:sp>
      <p:sp>
        <p:nvSpPr>
          <p:cNvPr id="47" name="Text 40"/>
          <p:cNvSpPr txBox="1"/>
          <p:nvPr/>
        </p:nvSpPr>
        <p:spPr>
          <a:xfrm>
            <a:off x="9994392" y="6464808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spc="100" kern="0" dirty="0">
                <a:solidFill>
                  <a:srgbClr val="E026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MONTHS</a:t>
            </a:r>
            <a:endParaRPr lang="en-US" sz="1250" dirty="0"/>
          </a:p>
        </p:txBody>
      </p:sp>
      <p:sp>
        <p:nvSpPr>
          <p:cNvPr id="48" name="Text 41"/>
          <p:cNvSpPr txBox="1"/>
          <p:nvPr/>
        </p:nvSpPr>
        <p:spPr>
          <a:xfrm>
            <a:off x="9994392" y="6739128"/>
            <a:ext cx="2971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Self-healing agents</a:t>
            </a:r>
            <a:endParaRPr lang="en-US" sz="1600" dirty="0"/>
          </a:p>
        </p:txBody>
      </p:sp>
      <p:sp>
        <p:nvSpPr>
          <p:cNvPr id="49" name="Text 42"/>
          <p:cNvSpPr txBox="1"/>
          <p:nvPr/>
        </p:nvSpPr>
        <p:spPr>
          <a:xfrm>
            <a:off x="9994392" y="7104888"/>
            <a:ext cx="29718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EDE2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After exorcism, auto-restore the agent from its last clean soul snapshot</a:t>
            </a:r>
            <a:endParaRPr lang="en-US" sz="1350" dirty="0"/>
          </a:p>
        </p:txBody>
      </p:sp>
      <p:sp>
        <p:nvSpPr>
          <p:cNvPr id="50" name="Shape 43"/>
          <p:cNvSpPr/>
          <p:nvPr/>
        </p:nvSpPr>
        <p:spPr>
          <a:xfrm>
            <a:off x="13213080" y="8503920"/>
            <a:ext cx="310896" cy="310896"/>
          </a:xfrm>
          <a:prstGeom prst="ellipse">
            <a:avLst/>
          </a:prstGeom>
          <a:solidFill>
            <a:srgbClr val="E0262D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177800" dist="50800" dir="16200000">
              <a:srgbClr val="E0262D">
                <a:alpha val="90000"/>
              </a:srgbClr>
            </a:outerShdw>
          </a:effectLst>
        </p:spPr>
      </p:sp>
      <p:sp>
        <p:nvSpPr>
          <p:cNvPr id="51" name="Shape 44"/>
          <p:cNvSpPr/>
          <p:nvPr/>
        </p:nvSpPr>
        <p:spPr>
          <a:xfrm>
            <a:off x="13761720" y="8001000"/>
            <a:ext cx="3246120" cy="1417320"/>
          </a:xfrm>
          <a:prstGeom prst="roundRect">
            <a:avLst>
              <a:gd name="adj" fmla="val 7742"/>
            </a:avLst>
          </a:prstGeom>
          <a:solidFill>
            <a:srgbClr val="0E0506">
              <a:alpha val="82000"/>
            </a:srgbClr>
          </a:solidFill>
          <a:ln w="15875">
            <a:solidFill>
              <a:srgbClr val="E0262D"/>
            </a:solidFill>
            <a:prstDash val="solid"/>
          </a:ln>
        </p:spPr>
      </p:sp>
      <p:sp>
        <p:nvSpPr>
          <p:cNvPr id="52" name="Text 45"/>
          <p:cNvSpPr txBox="1"/>
          <p:nvPr/>
        </p:nvSpPr>
        <p:spPr>
          <a:xfrm>
            <a:off x="13926312" y="8110728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spc="100" kern="0" dirty="0">
                <a:solidFill>
                  <a:srgbClr val="E026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 MONTHS</a:t>
            </a:r>
            <a:endParaRPr lang="en-US" sz="1250" dirty="0"/>
          </a:p>
        </p:txBody>
      </p:sp>
      <p:sp>
        <p:nvSpPr>
          <p:cNvPr id="53" name="Text 46"/>
          <p:cNvSpPr txBox="1"/>
          <p:nvPr/>
        </p:nvSpPr>
        <p:spPr>
          <a:xfrm>
            <a:off x="13926312" y="8385048"/>
            <a:ext cx="2971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Possession intel network</a:t>
            </a:r>
            <a:endParaRPr lang="en-US" sz="1600" dirty="0"/>
          </a:p>
        </p:txBody>
      </p:sp>
      <p:sp>
        <p:nvSpPr>
          <p:cNvPr id="54" name="Text 47"/>
          <p:cNvSpPr txBox="1"/>
          <p:nvPr/>
        </p:nvSpPr>
        <p:spPr>
          <a:xfrm>
            <a:off x="13926312" y="8750808"/>
            <a:ext cx="29718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EDE2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Federated sharing of attack signatures; open agent-behavior attestation spec</a:t>
            </a:r>
            <a:endParaRPr lang="en-US" sz="13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Bookman Old Style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SOULPRINT - Identity Drift Detection for AI Agents</dc:title>
  <dc:subject>PptxGenJS Presentation</dc:subject>
  <dc:creator>PptxGenJS</dc:creator>
  <cp:lastModifiedBy>PptxGenJS</cp:lastModifiedBy>
  <cp:revision>1</cp:revision>
  <dcterms:created xsi:type="dcterms:W3CDTF">2026-10-26T13:30:50Z</dcterms:created>
  <dcterms:modified xsi:type="dcterms:W3CDTF">2026-10-26T13:30:50Z</dcterms:modified>
</cp:coreProperties>
</file>